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-khadi.co.za" TargetMode="External"/><Relationship Id="rId2" Type="http://schemas.openxmlformats.org/officeDocument/2006/relationships/hyperlink" Target="https://github.com/faneleedison-ux/ekhadi-shopware-plugin" TargetMode="External"/><Relationship Id="rId3" Type="http://schemas.openxmlformats.org/officeDocument/2006/relationships/hyperlink" Target="https://github.com/faneleedison-ux/ekhadi-shopware-plugin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neleedison-ux/ekhadi-shopware-plugin" TargetMode="External"/><Relationship Id="rId1" Type="http://schemas.openxmlformats.org/officeDocument/2006/relationships/image" Target="../media/image-4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neleedison-ux/ekhadi-shopware-plugin" TargetMode="Externa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neleedison-ux/ekhadi-shopware-plugin" TargetMode="External"/><Relationship Id="rId1" Type="http://schemas.openxmlformats.org/officeDocument/2006/relationships/image" Target="../media/image-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neleedison-ux/ekhadi-shopware-plug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926080"/>
          </a:xfrm>
          <a:prstGeom prst="rect">
            <a:avLst/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F0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1463040"/>
          </a:xfrm>
          <a:prstGeom prst="rect">
            <a:avLst/>
          </a:prstGeom>
          <a:solidFill>
            <a:srgbClr val="CF0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60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87552"/>
            <a:ext cx="822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868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600200" y="1783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Credit &amp; Stokvel Platform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1247120" cy="2651760"/>
          </a:xfrm>
          <a:prstGeom prst="roundRect">
            <a:avLst>
              <a:gd name="adj" fmla="val 4828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108960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0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108960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Huawei Developer Competition Africa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21024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21024"/>
            <a:ext cx="11247120" cy="512064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62102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621024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— Community Credit &amp; Stokvel Platform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133088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4133088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45152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645152"/>
            <a:ext cx="11247120" cy="512064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64515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64515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/ Sanlam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157216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5157216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5157216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Fanelesibonge.Mbuyazi@sanlam.co.za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669280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6053328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0D1526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6126480"/>
            <a:ext cx="3657600" cy="347472"/>
          </a:xfrm>
          <a:prstGeom prst="roundRect">
            <a:avLst>
              <a:gd name="adj" fmla="val 18421"/>
            </a:avLst>
          </a:prstGeom>
          <a:solidFill>
            <a:srgbClr val="161D2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9" name="Text 27">
            <a:hlinkClick r:id="rId1" tooltip=""/>
          </p:cNvPr>
          <p:cNvSpPr/>
          <p:nvPr/>
        </p:nvSpPr>
        <p:spPr>
          <a:xfrm>
            <a:off x="594360" y="6126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https://e-khadi.co.za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6126480"/>
            <a:ext cx="7132320" cy="347472"/>
          </a:xfrm>
          <a:prstGeom prst="roundRect">
            <a:avLst>
              <a:gd name="adj" fmla="val 18421"/>
            </a:avLst>
          </a:prstGeom>
          <a:solidFill>
            <a:srgbClr val="161D2E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31" name="Text 29">
            <a:hlinkClick r:id="rId2" tooltip=""/>
          </p:cNvPr>
          <p:cNvSpPr/>
          <p:nvPr/>
        </p:nvSpPr>
        <p:spPr>
          <a:xfrm>
            <a:off x="4480560" y="61264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 https://github.com/faneleedison-ux/ekhadi-shopware-plugin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5" name="Text 33">
            <a:hlinkClick r:id="rId3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47120" cy="3547872"/>
          </a:xfrm>
          <a:prstGeom prst="roundRect">
            <a:avLst>
              <a:gd name="adj" fmla="val 3608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9164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691640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85416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85416"/>
            <a:ext cx="11247120" cy="493776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185416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185416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79192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79192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679192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Fanelesibonge Mbuyazi  ·  Fanelesibonge.Mbuyazi@sanlam.co.za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72968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72968"/>
            <a:ext cx="11247120" cy="493776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172968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Field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172968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PaaS, Database, Serverless, Cloud Storage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6674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666744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14, Prisma ORM, PostgreSQL, ECS, RDS, OBS, SMN, FunctionGraph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60520"/>
            <a:ext cx="11247120" cy="493776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16052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4160520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SASSA grants · store credit · stokvel · fintech · financial inclusion · South Africa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54296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654296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Applicable Fields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4654296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Services · Social Welfare · Community Retail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148072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330952"/>
            <a:ext cx="11247120" cy="1371600"/>
          </a:xfrm>
          <a:prstGeom prst="roundRect">
            <a:avLst>
              <a:gd name="adj" fmla="val 9333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422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5678424"/>
            <a:ext cx="10881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is a community credit and stokvel management platform built for South Africa's 18 million+ SASSA grant recipients. Township communities rely on spaza shops as their primary retail touchpoint, but there is no digital credit infrastructure connecting them. e-Khadi digitises this ecosystem: shop owners offer store credit to community members, who repay from their monthly SASSA grants. Built on Huawei Cloud — ECS, RDS, OBS, SMN, FunctionGraph. Innovations include AI stock forecasting, QR payments, loyalty rewards, 2% auto-emergency savings, fraud detection, bulk buying, and a financial literacy chatbot. Live at https://e-khadi.co.za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6" name="Text 34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will cover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373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34440" y="1920240"/>
            <a:ext cx="0" cy="50292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737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Introduction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7373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086600" y="1920240"/>
            <a:ext cx="0" cy="50292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737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8346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34440" y="3017520"/>
            <a:ext cx="0" cy="5029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8346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8346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086600" y="3017520"/>
            <a:ext cx="0" cy="50292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8346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9319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234440" y="4114800"/>
            <a:ext cx="0" cy="50292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3931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393192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93192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086600" y="4114800"/>
            <a:ext cx="0" cy="50292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3931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50292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234440" y="5212080"/>
            <a:ext cx="0" cy="50292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17320" y="5029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&amp; Follow-up Plan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9360" y="5029200"/>
            <a:ext cx="55778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50292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086600" y="5212080"/>
            <a:ext cx="0" cy="50292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50292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41" name="Text 39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Introduction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person behind e-Khadi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" y="1655064"/>
            <a:ext cx="2084832" cy="2084832"/>
          </a:xfrm>
          <a:prstGeom prst="ellipse">
            <a:avLst/>
          </a:prstGeom>
          <a:solidFill>
            <a:srgbClr val="3B82F6"/>
          </a:solidFill>
          <a:ln w="31750">
            <a:solidFill>
              <a:srgbClr val="3B82F6"/>
            </a:solidFill>
            <a:prstDash val="solid"/>
          </a:ln>
        </p:spPr>
      </p:sp>
      <p:pic>
        <p:nvPicPr>
          <p:cNvPr id="7" name="Image 0" descr="/Users/fanele-sanlam/Documents/New project/e-Khadi/store-credit-shopware-6-solution25-main/assets/images/profil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2011680" cy="201168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673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Fanelesibonge Mbuyazi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Developer · Project Lead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0" y="1691640"/>
            <a:ext cx="8961120" cy="288036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07792" y="16916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0" y="1691640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Fanelesibonge Mbuyazi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0" y="2258568"/>
            <a:ext cx="8961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0" y="2258568"/>
            <a:ext cx="8961120" cy="566928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07792" y="22585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03520" y="2258568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Developer · Project Lead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0" y="2825496"/>
            <a:ext cx="8961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07792" y="28254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03520" y="2825496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Bachelor of Commerce in Information Systems — University of KwaZulu-Natal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0" y="3392424"/>
            <a:ext cx="8961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0" y="3392424"/>
            <a:ext cx="8961120" cy="566928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07792" y="339242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03520" y="339242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Engineer at Sanlam · Building fintech solutions for underserved South African communities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0" y="3959352"/>
            <a:ext cx="8961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07792" y="39593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03520" y="3959352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Fanelesibonge.Mbuyazi@sanlam.co.za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743200" y="4526280"/>
            <a:ext cx="8961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440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Huawei Cloud Skills: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0" y="5577840"/>
            <a:ext cx="987552" cy="384048"/>
          </a:xfrm>
          <a:prstGeom prst="roundRect">
            <a:avLst>
              <a:gd name="adj" fmla="val 19048"/>
            </a:avLst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0" y="5577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803904" y="5577840"/>
            <a:ext cx="987552" cy="384048"/>
          </a:xfrm>
          <a:prstGeom prst="roundRect">
            <a:avLst>
              <a:gd name="adj" fmla="val 19048"/>
            </a:avLst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03904" y="5577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864608" y="5577840"/>
            <a:ext cx="987552" cy="384048"/>
          </a:xfrm>
          <a:prstGeom prst="roundRect">
            <a:avLst>
              <a:gd name="adj" fmla="val 19048"/>
            </a:avLst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64608" y="5577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925312" y="5577840"/>
            <a:ext cx="987552" cy="384048"/>
          </a:xfrm>
          <a:prstGeom prst="roundRect">
            <a:avLst>
              <a:gd name="adj" fmla="val 19048"/>
            </a:avLst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25312" y="5577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986016" y="5577840"/>
            <a:ext cx="987552" cy="384048"/>
          </a:xfrm>
          <a:prstGeom prst="roundRect">
            <a:avLst>
              <a:gd name="adj" fmla="val 19048"/>
            </a:avLst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86016" y="5577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FunctionGraph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046720" y="5577840"/>
            <a:ext cx="987552" cy="384048"/>
          </a:xfrm>
          <a:prstGeom prst="roundRect">
            <a:avLst>
              <a:gd name="adj" fmla="val 19048"/>
            </a:avLst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0" y="5577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107424" y="5577840"/>
            <a:ext cx="987552" cy="384048"/>
          </a:xfrm>
          <a:prstGeom prst="roundRect">
            <a:avLst>
              <a:gd name="adj" fmla="val 19048"/>
            </a:avLst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07424" y="5577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0168128" y="5577840"/>
            <a:ext cx="987552" cy="384048"/>
          </a:xfrm>
          <a:prstGeom prst="roundRect">
            <a:avLst>
              <a:gd name="adj" fmla="val 19048"/>
            </a:avLst>
          </a:prstGeom>
          <a:solidFill>
            <a:srgbClr val="1E2A3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68128" y="5577840"/>
            <a:ext cx="987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49" name="Text 46">
            <a:hlinkClick r:id="rId2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Introduction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e-Khadi solves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577840" cy="2057400"/>
          </a:xfrm>
          <a:prstGeom prst="roundRect">
            <a:avLst>
              <a:gd name="adj" fmla="val 6222"/>
            </a:avLst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5212080" cy="0"/>
          </a:xfrm>
          <a:prstGeom prst="line">
            <a:avLst/>
          </a:prstGeom>
          <a:noFill/>
          <a:ln w="635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13432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18M+ South Africans receive SASSA grants monthly. Most live in townships with no formal banking. Spaza shops are the main retail touchpoint but run entirely on cash with no digital records — leading to disputes, defaults, and zero savings.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577840" cy="2057400"/>
          </a:xfrm>
          <a:prstGeom prst="roundRect">
            <a:avLst>
              <a:gd name="adj" fmla="val 6222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Problems Solved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221992"/>
            <a:ext cx="5212080" cy="0"/>
          </a:xfrm>
          <a:prstGeom prst="line">
            <a:avLst/>
          </a:prstGeom>
          <a:noFill/>
          <a:ln w="635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134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Financial exclusion from the formal economy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264261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Manual, paper-based credit record-keeping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Credit defaults with no recourse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33009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No savings or stokvel management infrastructure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5577840" cy="2057400"/>
          </a:xfrm>
          <a:prstGeom prst="roundRect">
            <a:avLst>
              <a:gd name="adj" fmla="val 6222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69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 Target Users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62272"/>
            <a:ext cx="521208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537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SASSA grant recipients (members)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8828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Spaza shop owners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Stokvel savings group coordinators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931920"/>
            <a:ext cx="5577840" cy="2057400"/>
          </a:xfrm>
          <a:prstGeom prst="roundRect">
            <a:avLst>
              <a:gd name="adj" fmla="val 6222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069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 Application Scenarios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4462272"/>
            <a:ext cx="5212080" cy="0"/>
          </a:xfrm>
          <a:prstGeom prst="line">
            <a:avLst/>
          </a:prstGeom>
          <a:noFill/>
          <a:ln w="635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53712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South African township community where a shop owner personally knows their customers — Soweto, Khayelitsha, Umlazi, and thousands more. Designed for low-data mobile use.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0" name="Text 28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and Huawei Cloud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03520" cy="4572000"/>
          </a:xfrm>
          <a:prstGeom prst="roundRect">
            <a:avLst>
              <a:gd name="adj" fmla="val 2800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762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App Router · TypeScript · Tailwind CSS · PWA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49377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712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87121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API Routes · NextAuth.js · Prisma ORM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49377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566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via Huawei RDS (private network 192.168.0.53)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59936"/>
            <a:ext cx="49377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611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42611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Role-based: ADMIN / MEMBER / SHOP — JWT sessions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493776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9560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4956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 process manager · Nginx reverse proxy · e-khadi.co.za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600200"/>
            <a:ext cx="5669280" cy="4572000"/>
          </a:xfrm>
          <a:prstGeom prst="roundRect">
            <a:avLst>
              <a:gd name="adj" fmla="val 2800"/>
            </a:avLst>
          </a:prstGeom>
          <a:solidFill>
            <a:srgbClr val="111827"/>
          </a:solidFill>
          <a:ln w="19050">
            <a:solidFill>
              <a:srgbClr val="CF0A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7373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0A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Huawei Cloud Services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ECS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18120" y="21762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Elastic Cloud Server hosts the full-stack Next.js app (PM2, Node 18, port 3000)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70048"/>
            <a:ext cx="53035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87121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🐘  RDS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18120" y="28712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PostgreSQL database on private subnet 192.168.0.53:5432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364992"/>
            <a:ext cx="53035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🪣  OBS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18120" y="3566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Storage for PDF receipts, ID documents, and DB backups (S3-compatible API)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059936"/>
            <a:ext cx="53035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26110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📣  SMN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18120" y="42611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Message Notification — sends email and SMS on credit approval / rejection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754880"/>
            <a:ext cx="53035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9560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FunctionGraph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18120" y="49560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cron function runs automated monthly repayment processing (1st of month)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41" name="Text 39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Diagram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flow from browser to Huawei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2286000" cy="658368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7488" y="118872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47488" y="1481328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/ PWA (Mobile)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755648"/>
            <a:ext cx="0" cy="438912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572000" y="2194560"/>
            <a:ext cx="3017520" cy="658368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286000"/>
            <a:ext cx="2798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1728" y="2578608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e-khadi.co.za · :80/:443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2852928"/>
            <a:ext cx="0" cy="43891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114800" y="329184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50800" dir="2700000">
              <a:srgbClr val="3B82F6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24528" y="3383280"/>
            <a:ext cx="3712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App (ECS)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24528" y="367588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110.238.73.51 · PM2 · :3000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45552" y="336499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572000"/>
            <a:ext cx="1088136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371600" y="4572000"/>
            <a:ext cx="0" cy="45720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65760" y="50292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2540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50800" dir="2700000">
              <a:srgbClr val="2DD4BF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51206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5413248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RDS 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192.168.0.53:5432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67712" y="510235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4572000"/>
            <a:ext cx="0" cy="4572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926080" y="50292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51206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 SDK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35808" y="5413248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OBS Bucket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receipts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4572000"/>
            <a:ext cx="0" cy="45720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486400" y="50292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50800" dir="2700000">
              <a:srgbClr val="FBBF24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96128" y="51206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SMN SDK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96128" y="5413248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SMN Topic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/ SMS alerts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88352" y="510235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52560" y="4572000"/>
            <a:ext cx="0" cy="45720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8046720" y="50292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5120640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FunctionGraph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56448" y="5413248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Monthly repayment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(1st/month)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0760" y="3950208"/>
            <a:ext cx="0" cy="603504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41" name="Text 39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Huawei Cloud services live in production today</a:t>
            </a:r>
            <a:endParaRPr lang="en-US" sz="1400" dirty="0"/>
          </a:p>
        </p:txBody>
      </p:sp>
      <p:pic>
        <p:nvPicPr>
          <p:cNvPr id="6" name="Image 0" descr="/Users/fanele-sanlam/Documents/New project/e-Khadi/store-credit-shopware-6-solution25-main/assets/images/architecture/current-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694944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600200"/>
            <a:ext cx="4069080" cy="4434840"/>
          </a:xfrm>
          <a:prstGeom prst="roundRect">
            <a:avLst>
              <a:gd name="adj" fmla="val 3146"/>
            </a:avLst>
          </a:prstGeom>
          <a:solidFill>
            <a:srgbClr val="1118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719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Services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18120" y="2103120"/>
            <a:ext cx="3749040" cy="0"/>
          </a:xfrm>
          <a:prstGeom prst="line">
            <a:avLst/>
          </a:prstGeom>
          <a:noFill/>
          <a:ln w="889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21945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21040" y="22311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21040" y="25054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app · PM2 · 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110.238.73.51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818120" y="2926080"/>
            <a:ext cx="374904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296265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🐘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21040" y="29992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 PostgreSQL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21040" y="3273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DB · private subnet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192.168.0.53:5432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818120" y="3694176"/>
            <a:ext cx="374904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373075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🪣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21040" y="3767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321040" y="40416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receipts · ID docs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backups · CDN origin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818120" y="4462272"/>
            <a:ext cx="374904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449884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📣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21040" y="4535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0" y="48097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 &amp; email on credit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/ rejection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818120" y="5230368"/>
            <a:ext cx="374904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526694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321040" y="5303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FunctionGraph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32104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repayment cron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1st of month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2" name="Text 29">
            <a:hlinkClick r:id="rId2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Huawei Cloud services across 9 layers at full scale</a:t>
            </a:r>
            <a:endParaRPr lang="en-US" sz="1400" dirty="0"/>
          </a:p>
        </p:txBody>
      </p:sp>
      <p:pic>
        <p:nvPicPr>
          <p:cNvPr id="6" name="Image 0" descr="/Users/fanele-sanlam/Documents/New project/e-Khadi/store-credit-shopware-6-solution25-main/assets/images/architecture/future-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4712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5852160"/>
            <a:ext cx="11247120" cy="320040"/>
          </a:xfrm>
          <a:prstGeom prst="roundRect">
            <a:avLst>
              <a:gd name="adj" fmla="val 22857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5907024"/>
            <a:ext cx="73152" cy="20116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5907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965960" y="5907024"/>
            <a:ext cx="73152" cy="201168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84832" y="5907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37560" y="5907024"/>
            <a:ext cx="73152" cy="201168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56432" y="5907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709160" y="5907024"/>
            <a:ext cx="73152" cy="201168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8032" y="5907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080760" y="5907024"/>
            <a:ext cx="73152" cy="201168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9632" y="5907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452360" y="5907024"/>
            <a:ext cx="73152" cy="20116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71232" y="5907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23960" y="5907024"/>
            <a:ext cx="73152" cy="20116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42832" y="5907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0195560" y="5907024"/>
            <a:ext cx="73152" cy="201168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14432" y="59070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58400" y="590702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= Active today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28" name="Text 25">
            <a:hlinkClick r:id="rId2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F0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Huawei Cloud Dashboard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services in the Huawei Cloud console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Huawei Cloud console screenshots below: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749040" cy="196596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Instance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110.238.73.51 — Running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with screenshot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749040" cy="196596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2DD4B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389120" y="2286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RDS PostgreSQL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192.168.0.53 — Available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with screenshot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321040" y="2011680"/>
            <a:ext cx="3749040" cy="196596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321040" y="2286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58200" y="29718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 Bucket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ekhadi-images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5820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with screenshot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3749040" cy="196596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FBBF24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" y="4480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94360" y="51663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SMN Topic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577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ekhadi-notifications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897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with screenshot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0" y="4206240"/>
            <a:ext cx="3749040" cy="196596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19050">
            <a:solidFill>
              <a:srgbClr val="A855F7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389120" y="4480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526280" y="51663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FunctionGraph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5577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ekhadi-repayment-processor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26280" y="5897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with screenshot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5" name="Text 33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role-based portals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566160" cy="4572000"/>
          </a:xfrm>
          <a:prstGeom prst="roundRect">
            <a:avLst>
              <a:gd name="adj" fmla="val 3590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 Member Portal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3200400" cy="0"/>
          </a:xfrm>
          <a:prstGeom prst="line">
            <a:avLst/>
          </a:prstGeom>
          <a:noFill/>
          <a:ln w="889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042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Virtual credit card (glowing dark-mode UI)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249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Store credit wallet &amp; transaction history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Grant cycle countdown to pay-day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Credit request submission &amp; status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867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QR payment code (10-min expiry + 8-digit code)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Loyalty points — Bronze → Platinum tiers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8280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2% auto-emergency savings fund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2486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Stokvel group management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Financial advisor chatbot (NLP-powered)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1600200"/>
            <a:ext cx="3566160" cy="4572000"/>
          </a:xfrm>
          <a:prstGeom prst="roundRect">
            <a:avLst>
              <a:gd name="adj" fmla="val 3590"/>
            </a:avLst>
          </a:prstGeom>
          <a:solidFill>
            <a:srgbClr val="11182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🏪  Shop Portal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43400" y="2221992"/>
            <a:ext cx="3200400" cy="0"/>
          </a:xfrm>
          <a:prstGeom prst="line">
            <a:avLst/>
          </a:prstGeom>
          <a:noFill/>
          <a:ln w="889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3042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Transaction management &amp; history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43400" y="27249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AI stock forecasting (live animated dashboard)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3145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PDF receipt generation (OBS-stored)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3566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Restock order form with category suggestions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39867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Sales heatmap by hour of 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44074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Area-level customer insights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1600200"/>
            <a:ext cx="3566160" cy="4572000"/>
          </a:xfrm>
          <a:prstGeom prst="roundRect">
            <a:avLst>
              <a:gd name="adj" fmla="val 3590"/>
            </a:avLst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Admin Portal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2221992"/>
            <a:ext cx="3200400" cy="0"/>
          </a:xfrm>
          <a:prstGeom prst="line">
            <a:avLst/>
          </a:prstGeom>
          <a:noFill/>
          <a:ln w="889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23042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Member &amp; group management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27249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Credit approval / rejection workflow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3145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Fraud detection engine (flag + resolve)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3566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Community noticeboard management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39867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ID verification review (OCR + FRS)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4074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Area &amp; shop administration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9" name="Text 37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e-Khadi stand 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7739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Stock Forecast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139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Analyses 30-day purchase patterns per area — shows CRITICAL / LOW / STOCKED status with restock suggestions powered by Huawei ModelArts.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664208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64208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95160" y="17739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Emergency Fund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213969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2% of every store credit purchase is automatically saved into a locked emergency pot, building savings invisibly with every transaction.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2608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035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Detection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4015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 rapid purchases (5+ in 1 hour) and high velocity (R300+ in 24h) in real time using SQL aggregation — resolve alerts from the admin panel.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2926080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92608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95160" y="3035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 Payments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34015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displays an animated QR code or 8-digit short code with a 10-minute timer — shop scans to debit. No cash, no physical card needed.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8795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4297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 Rewards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663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point per R10 spent, four tiers (Bronze → Silver → Gold → Platinum), redeem 100 points = R10 credit. Animated progress bar on member card.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4187952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18795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95160" y="4297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Bulk Buy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4663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members pool pledges to buy wholesale together. Coordinator tracks progress — auto-promotes to FUNDED when target quantity is reached.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08960" y="5449824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544982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794760" y="55595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Chatbot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94760" y="59253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Floating AI assistant with quick-prompt buttons: save, budget, debt, food, electricity. Personalised tips in plain language.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7" name="Text 35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Value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impact, market opportunity, and sustainability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282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 Social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671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Financially includes 18M+ South Africans currently excluded from formal banking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5694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Reduces credit defaults by digitising repayment commitments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Builds savings culture through automated 2% emergency fund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3741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Digitises and formalises stokvels — transparent, auditable, automated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7282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🏪  For Shop Owners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1671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Reduces default risk — credit tied to SASSA grant cycle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25694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AI-driven stock management increases revenue per customer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971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Digital receipts reduce paper disputes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33741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Community bulk buying boosts volume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056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Market Size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544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R70 billion+ SASSA grant disbursements annually in South Africa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946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~80,000 spaza shops in South Africa (informal market)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Township economy estimated at R100bn+ per annum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397764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1056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Business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4544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Platform fee as a % of credit issued per month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4946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Premium analytics dashboard subscription for shop owners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5349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White-label licensing to NGOs and municipalities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57515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Data insights product for FMCG brands entering township markets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access and test e-Khadi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1097280"/>
          </a:xfrm>
          <a:prstGeom prst="roundRect">
            <a:avLst>
              <a:gd name="adj" fmla="val 11667"/>
            </a:avLst>
          </a:prstGeom>
          <a:solidFill>
            <a:srgbClr val="111827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2700000">
              <a:srgbClr val="22C55E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938528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745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https://e-khadi.co.za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2311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Huawei ECS · af-south-1 · 110.238.73.51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47120" cy="13716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992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 Test Accounts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19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71246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admin@ekhadi.co.za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3419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pw: Admin@2026!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33832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19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371246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member@ekhadi.co.za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3419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pw: Member@2026!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33832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419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371246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shop@ekhadi.co.za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35440" y="3419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pw: Shop@2026!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5394960" cy="1691640"/>
          </a:xfrm>
          <a:prstGeom prst="roundRect">
            <a:avLst>
              <a:gd name="adj" fmla="val 7568"/>
            </a:avLst>
          </a:prstGeom>
          <a:solidFill>
            <a:srgbClr val="1118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5537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Test Scope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937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Full role-based testing — admin, member, and shop owner flows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3218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Credit request → approval → repayment full cycle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7058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QR code generation and redemption end-to-end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4434840"/>
            <a:ext cx="5669280" cy="1691640"/>
          </a:xfrm>
          <a:prstGeom prst="roundRect">
            <a:avLst>
              <a:gd name="adj" fmla="val 7568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455371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4937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Seeded with realistic SA community data (areas, groups, transactions)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53218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3 areas: Soweto, Khayelitsha, Umlazi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570585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Multiple stokvel groups with realistic credit histories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8" name="Text 36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&amp; Follow-up Plan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and roadmap to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1247120" cy="777240"/>
          </a:xfrm>
          <a:prstGeom prst="roundRect">
            <a:avLst>
              <a:gd name="adj" fmla="val 14118"/>
            </a:avLst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Demo: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16642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https://e-khadi.co.za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0" y="1737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judge credentials from Slide 12 to explore all three portals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1124712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9077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1247120" cy="594360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36499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A2235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3346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332841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web app live on Huawei Cloud — ECS, RDS, OBS, SMN, FunctionGraph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95935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A2235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9593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3941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392277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notifications (Huawei MSGSMS), USSD fallback for feature phones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80560"/>
            <a:ext cx="11247120" cy="594360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55371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A2235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5537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45354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months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23360" y="451713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Android app (Huawei AppGallery), biometric login via FRS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5074920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514807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A2235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51480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51297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23360" y="511149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rollout — 10,000 members across 5 provinces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669280"/>
            <a:ext cx="11247120" cy="594360"/>
          </a:xfrm>
          <a:prstGeom prst="rect">
            <a:avLst/>
          </a:prstGeom>
          <a:solidFill>
            <a:srgbClr val="161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574243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A2235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5742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8880" y="572414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years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23360" y="570585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to Zimbabwe, Zambia, Nigeria — pan-African stokvel platform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6263640"/>
            <a:ext cx="11247120" cy="0"/>
          </a:xfrm>
          <a:prstGeom prst="line">
            <a:avLst/>
          </a:prstGeom>
          <a:noFill/>
          <a:ln w="6350">
            <a:solidFill>
              <a:srgbClr val="1E2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46" name="Text 44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Achievements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have built and delivered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577840" cy="13716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50800" dir="2700000">
              <a:srgbClr val="22C55E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27632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07008" y="1810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on Huawei Cloud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1945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+ RDS + OBS + SMN + FunctionGraph — all 5 services integrated and running in production at 110.238.73.51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627632"/>
            <a:ext cx="5577840" cy="13716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76200" dist="50800" dir="2700000">
              <a:srgbClr val="2DD4BF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3952" y="1627632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59168" y="1810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 API Routes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59168" y="21945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pages · 3-role auth system (ADMIN / MEMBER / SHOP) · Full CRUD on every resource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5577840" cy="13716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50800" dir="2700000">
              <a:srgbClr val="38BDF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163824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07008" y="33467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— Installable 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373075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worker + manifest.json — installable on Android and iOS home screen with offline capability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163824"/>
            <a:ext cx="5577840" cy="13716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50800" dir="2700000">
              <a:srgbClr val="3B82F6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3163824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59168" y="33467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Domain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373075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e-khadi.co.za pointing to Huawei ECS · Nginx configured · SSL via Certbot / Let's Encrypt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700016"/>
            <a:ext cx="5577840" cy="13716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50800" dir="2700000">
              <a:srgbClr val="A855F7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" y="4700016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07008" y="48828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Innovative Features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07008" y="526694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payments, loyalty system, emergency fund, fraud engine, bulk buy, AI forecast, chatbot and more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4700016"/>
            <a:ext cx="5577840" cy="13716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50800" dir="2700000">
              <a:srgbClr val="FBBF24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3952" y="4700016"/>
            <a:ext cx="548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59168" y="48828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Database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59168" y="526694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on Huawei RDS with 15+ tables, realistic seed data, full Prisma ORM schema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371600" y="6108192"/>
            <a:ext cx="8961120" cy="475488"/>
          </a:xfrm>
          <a:prstGeom prst="roundRect">
            <a:avLst>
              <a:gd name="adj" fmla="val 19231"/>
            </a:avLst>
          </a:prstGeom>
          <a:solidFill>
            <a:srgbClr val="0D231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6108192"/>
            <a:ext cx="8961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 e-Khadi is live, functional, and ready to serve South Africa's township communities — https://e-khadi.co.za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6364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364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e-Khadi · Huawei Developer Competition Africa 2026</a:t>
            </a:r>
            <a:endParaRPr lang="en-US" sz="800" dirty="0"/>
          </a:p>
        </p:txBody>
      </p:sp>
      <p:sp>
        <p:nvSpPr>
          <p:cNvPr id="35" name="Text 33">
            <a:hlinkClick r:id="rId1" tooltip=""/>
          </p:cNvPr>
          <p:cNvSpPr/>
          <p:nvPr/>
        </p:nvSpPr>
        <p:spPr>
          <a:xfrm>
            <a:off x="5943600" y="6382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u="sng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🐙 github.com/faneleedison-ux/ekhadi-shopware-plugin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55680" y="63825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e-Khadi — Huawei Developer Competition Africa</dc:title>
  <dc:subject>Community Credit &amp; Stokvel Platform</dc:subject>
  <dc:creator>Fanelesibonge Mbuyazi</dc:creator>
  <cp:lastModifiedBy>Fanelesibonge Mbuyazi</cp:lastModifiedBy>
  <cp:revision>1</cp:revision>
  <dcterms:created xsi:type="dcterms:W3CDTF">2026-04-20T18:39:29Z</dcterms:created>
  <dcterms:modified xsi:type="dcterms:W3CDTF">2026-04-20T18:39:29Z</dcterms:modified>
</cp:coreProperties>
</file>
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4817" r:id="rId2"/>
    <p:sldId id="267" r:id="rId3"/>
    <p:sldId id="266" r:id="rId4"/>
    <p:sldId id="258" r:id="rId5"/>
    <p:sldId id="264" r:id="rId6"/>
    <p:sldId id="261" r:id="rId7"/>
    <p:sldId id="271" r:id="rId8"/>
    <p:sldId id="274" r:id="rId9"/>
    <p:sldId id="259" r:id="rId10"/>
    <p:sldId id="260" r:id="rId11"/>
    <p:sldId id="262" r:id="rId12"/>
    <p:sldId id="263" r:id="rId13"/>
    <p:sldId id="269" r:id="rId14"/>
    <p:sldId id="270" r:id="rId15"/>
    <p:sldId id="265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Arial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Arial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Arial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9FF"/>
    <a:srgbClr val="3C3C40"/>
    <a:srgbClr val="EE1A37"/>
    <a:srgbClr val="D7E4F4"/>
    <a:srgbClr val="FD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09" autoAdjust="0"/>
    <p:restoredTop sz="96424" autoAdjust="0"/>
  </p:normalViewPr>
  <p:slideViewPr>
    <p:cSldViewPr snapToGrid="0">
      <p:cViewPr varScale="1">
        <p:scale>
          <a:sx n="98" d="100"/>
          <a:sy n="98" d="100"/>
        </p:scale>
        <p:origin x="78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0E0EB-50C1-4A12-BE88-DACCAE8089C8}" type="datetimeFigureOut">
              <a:rPr lang="zh-CN" altLang="en-US" smtClean="0"/>
              <a:t>2024/8/29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07DB0B-DBBC-4B01-8239-7E58DAA58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54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5AF34-0DAA-40EE-9ACD-5E680A5B916F}" type="datetimeFigureOut">
              <a:rPr lang="zh-CN" altLang="en-US" smtClean="0"/>
              <a:t>2024/8/29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7E378-4A26-40D8-B20A-3518D134C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135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A7E378-4A26-40D8-B20A-3518D134C68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6968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52EF66D-9382-4C9A-8CA6-C89DD8A01B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9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A668C-45AB-4D97-87A2-AC4728B53370}" type="datetimeFigureOut">
              <a:rPr lang="zh-CN" altLang="en-US" smtClean="0"/>
              <a:t>2024/8/29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E32A2-E85C-4344-9920-4A94AF90C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728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A668C-45AB-4D97-87A2-AC4728B53370}" type="datetimeFigureOut">
              <a:rPr lang="zh-CN" altLang="en-US" smtClean="0"/>
              <a:t>2024/8/29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E32A2-E85C-4344-9920-4A94AF90C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0968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A668C-45AB-4D97-87A2-AC4728B53370}" type="datetimeFigureOut">
              <a:rPr lang="zh-CN" altLang="en-US" smtClean="0"/>
              <a:t>2024/8/29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E32A2-E85C-4344-9920-4A94AF90C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1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3">
            <a:extLst>
              <a:ext uri="{FF2B5EF4-FFF2-40B4-BE49-F238E27FC236}">
                <a16:creationId xmlns:a16="http://schemas.microsoft.com/office/drawing/2014/main" id="{154DF514-FEEA-4DD7-9717-A8DECADFB8A9}"/>
              </a:ext>
            </a:extLst>
          </p:cNvPr>
          <p:cNvSpPr/>
          <p:nvPr/>
        </p:nvSpPr>
        <p:spPr>
          <a:xfrm>
            <a:off x="959907" y="3947338"/>
            <a:ext cx="5136093" cy="1886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Challenge Name: Huawei Developer Competition 2025 Code4Mzansi</a:t>
            </a:r>
          </a:p>
          <a:p>
            <a:r>
              <a:t>Project Name: e-Khadi: Community Credit &amp; Stokvel Platform</a:t>
            </a:r>
          </a:p>
          <a:p>
            <a:r>
              <a:t>Team Name: e-khadi</a:t>
            </a:r>
          </a:p>
          <a:p>
            <a:r>
              <a:t>Organization: University of Cape Town</a:t>
            </a:r>
          </a:p>
          <a:p>
            <a:r>
              <a:t>Email/Phone: Huawei ID: hid_vulasaa828mq4x3</a:t>
            </a:r>
          </a:p>
        </p:txBody>
      </p:sp>
    </p:spTree>
    <p:extLst>
      <p:ext uri="{BB962C8B-B14F-4D97-AF65-F5344CB8AC3E}">
        <p14:creationId xmlns:p14="http://schemas.microsoft.com/office/powerpoint/2010/main" val="255780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970191" y="1"/>
            <a:ext cx="9221809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71829"/>
              </p:ext>
            </p:extLst>
          </p:nvPr>
        </p:nvGraphicFramePr>
        <p:xfrm>
          <a:off x="3398945" y="1074967"/>
          <a:ext cx="8364300" cy="5010427"/>
        </p:xfrm>
        <a:graphic>
          <a:graphicData uri="http://schemas.openxmlformats.org/drawingml/2006/table">
            <a:tbl>
              <a:tblPr>
                <a:blipFill>
                  <a:blip r:embed="rId2"/>
                  <a:stretch>
                    <a:fillRect/>
                  </a:stretch>
                </a:blipFill>
                <a:tableStyleId>{5C22544A-7EE6-4342-B048-85BDC9FD1C3A}</a:tableStyleId>
              </a:tblPr>
              <a:tblGrid>
                <a:gridCol w="1919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4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0077">
                <a:tc>
                  <a:txBody>
                    <a:bodyPr/>
                    <a:lstStyle/>
                    <a:p>
                      <a:pPr algn="ctr" fontAlgn="t"/>
                      <a:r>
                        <a:rPr sz="1200" u="none" dirty="0">
                          <a:solidFill>
                            <a:srgbClr val="575756"/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Project Name</a:t>
                      </a:r>
                      <a:endParaRPr kumimoji="1" lang="zh-CN" altLang="en-US" sz="1200" kern="1200" dirty="0">
                        <a:solidFill>
                          <a:srgbClr val="575756"/>
                        </a:solidFill>
                        <a:latin typeface="+mn-lt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1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077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sz="1200" u="none" dirty="0">
                          <a:solidFill>
                            <a:srgbClr val="575756"/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Team Name</a:t>
                      </a:r>
                      <a:endParaRPr kumimoji="1" lang="zh-CN" altLang="en-US" sz="1200" kern="1200" dirty="0">
                        <a:solidFill>
                          <a:srgbClr val="575756"/>
                        </a:solidFill>
                        <a:latin typeface="+mn-lt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1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77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sz="1200" u="none" dirty="0">
                          <a:solidFill>
                            <a:srgbClr val="575756"/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Contacts</a:t>
                      </a:r>
                      <a:endParaRPr kumimoji="1" lang="zh-CN" altLang="en-US" sz="1200" kern="1200" dirty="0">
                        <a:solidFill>
                          <a:srgbClr val="575756"/>
                        </a:solidFill>
                        <a:latin typeface="+mn-lt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1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077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sz="1200" u="none" dirty="0">
                          <a:solidFill>
                            <a:srgbClr val="575756"/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Technical Field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100" i="1" u="non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Enter EI, PaaS, media, database</a:t>
                      </a:r>
                      <a:r>
                        <a:rPr lang="en-US" altLang="zh-CN" sz="1100" i="1" u="non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, </a:t>
                      </a:r>
                      <a:r>
                        <a:rPr lang="en-US" sz="1100" i="1" u="non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etc.</a:t>
                      </a:r>
                      <a:endParaRPr lang="zh-CN" altLang="en-US" sz="1100" b="0" i="1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077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sz="1200" u="none" dirty="0">
                          <a:solidFill>
                            <a:srgbClr val="575756"/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Technologies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100" i="1" u="non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Specify the key technologies you used.</a:t>
                      </a:r>
                      <a:endParaRPr lang="zh-CN" altLang="en-US" sz="1100" b="0" i="1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077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sz="1200" u="none" dirty="0">
                          <a:solidFill>
                            <a:srgbClr val="575756"/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Keywords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1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077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sz="1200" u="none" dirty="0">
                          <a:solidFill>
                            <a:srgbClr val="575756"/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Applicable Fields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1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9888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sz="1200" u="none" dirty="0">
                          <a:solidFill>
                            <a:srgbClr val="575756"/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Description (in </a:t>
                      </a:r>
                      <a:r>
                        <a:rPr lang="en-US" sz="1200" u="none" dirty="0">
                          <a:solidFill>
                            <a:srgbClr val="575756"/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sz="1200" u="none" dirty="0">
                          <a:solidFill>
                            <a:srgbClr val="575756"/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00 words)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sz="1100" i="1" u="non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Microsoft YaHei" panose="020B0503020204020204" pitchFamily="34" charset="-122"/>
                        </a:rPr>
                        <a:t>Describe the usage scenarios, pain points solved, and innovations of your project.</a:t>
                      </a:r>
                      <a:endParaRPr lang="zh-CN" altLang="en-US" sz="1100" b="0" i="1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标题 1">
            <a:extLst>
              <a:ext uri="{FF2B5EF4-FFF2-40B4-BE49-F238E27FC236}">
                <a16:creationId xmlns:a16="http://schemas.microsoft.com/office/drawing/2014/main" id="{30EEF05E-3A70-3A46-9D7D-01C624CFCEA5}"/>
              </a:ext>
            </a:extLst>
          </p:cNvPr>
          <p:cNvSpPr txBox="1">
            <a:spLocks/>
          </p:cNvSpPr>
          <p:nvPr/>
        </p:nvSpPr>
        <p:spPr>
          <a:xfrm>
            <a:off x="806883" y="1037202"/>
            <a:ext cx="2045373" cy="68254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44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Arial" panose="02000000000000000000" pitchFamily="2" charset="-122"/>
                <a:ea typeface="FZLanTingHeiS-R-GB" panose="02000000000000000000" pitchFamily="2" charset="-122"/>
                <a:cs typeface="+mj-cs"/>
              </a:defRPr>
            </a:lvl1pPr>
          </a:lstStyle>
          <a:p>
            <a:pPr algn="ctr"/>
            <a:r>
              <a:rPr sz="2799" b="1" u="none" dirty="0">
                <a:solidFill>
                  <a:srgbClr val="990000"/>
                </a:solidFill>
              </a:rPr>
              <a:t>Overview</a:t>
            </a:r>
            <a:endParaRPr lang="zh-CN" altLang="en-US" sz="2799" b="1" dirty="0">
              <a:solidFill>
                <a:srgbClr val="990000"/>
              </a:solidFill>
              <a:latin typeface="Arial" panose="02000000000000000000" pitchFamily="2" charset="-122"/>
              <a:ea typeface="方正兰亭黑简体" panose="02000000000000000000" pitchFamily="2" charset="-122"/>
              <a:cs typeface="Arial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3027861"/>
            <a:ext cx="2857500" cy="2857500"/>
          </a:xfrm>
          <a:prstGeom prst="rect">
            <a:avLst/>
          </a:prstGeom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30EEF05E-3A70-3A46-9D7D-01C624CFCEA5}"/>
              </a:ext>
            </a:extLst>
          </p:cNvPr>
          <p:cNvSpPr txBox="1">
            <a:spLocks/>
          </p:cNvSpPr>
          <p:nvPr/>
        </p:nvSpPr>
        <p:spPr>
          <a:xfrm>
            <a:off x="3279061" y="383524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2400">
                <a:solidFill>
                  <a:srgbClr val="575756"/>
                </a:solidFill>
                <a:latin typeface="Arial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t>e-Khadi is a Shopware 6 plugin that enables community stokvels and essential-goods micro-credit for SASSA grant recipients.</a:t>
            </a:r>
          </a:p>
          <a:p>
            <a:r>
              <a:t>- Problem: grants run out mid-month; spaza shops are the primary retail channel</a:t>
            </a:r>
          </a:p>
          <a:p>
            <a:r>
              <a:t>- Solution: behavior-based credit + group savings with area enforcement</a:t>
            </a:r>
          </a:p>
          <a:p>
            <a:r>
              <a:t>- Target users: grant recipients, spaza shops, community groups</a:t>
            </a:r>
          </a:p>
          <a:p>
            <a:r>
              <a:t>- Key features: buckets, credit requests, auto repayment, risk scoring</a:t>
            </a:r>
          </a:p>
          <a:p>
            <a:r>
              <a:t>- Huawei Cloud: RDS, APIG, OBS, SMN, FunctionGraph, CodeArts Pipeline</a:t>
            </a:r>
          </a:p>
        </p:txBody>
      </p:sp>
    </p:spTree>
    <p:extLst>
      <p:ext uri="{BB962C8B-B14F-4D97-AF65-F5344CB8AC3E}">
        <p14:creationId xmlns:p14="http://schemas.microsoft.com/office/powerpoint/2010/main" val="1808834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2970191" y="1"/>
            <a:ext cx="9221809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267749" y="1023746"/>
            <a:ext cx="6911008" cy="543339"/>
            <a:chOff x="3432313" y="1034105"/>
            <a:chExt cx="6911008" cy="54333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3ED04-8B69-3E4B-BE7B-BF4415B53DB9}"/>
                </a:ext>
              </a:extLst>
            </p:cNvPr>
            <p:cNvSpPr txBox="1"/>
            <p:nvPr/>
          </p:nvSpPr>
          <p:spPr>
            <a:xfrm>
              <a:off x="4200938" y="1053278"/>
              <a:ext cx="20982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sz="2000" u="none" dirty="0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Team Introduction</a:t>
              </a:r>
              <a:endParaRPr kumimoji="1" lang="zh-CN" altLang="en-US" sz="2000" dirty="0">
                <a:solidFill>
                  <a:srgbClr val="575756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7" name="直线连接符 9">
              <a:extLst>
                <a:ext uri="{FF2B5EF4-FFF2-40B4-BE49-F238E27FC236}">
                  <a16:creationId xmlns:a16="http://schemas.microsoft.com/office/drawing/2014/main" id="{769F327C-2A02-9945-906D-25389F1748EE}"/>
                </a:ext>
              </a:extLst>
            </p:cNvPr>
            <p:cNvCxnSpPr/>
            <p:nvPr/>
          </p:nvCxnSpPr>
          <p:spPr>
            <a:xfrm>
              <a:off x="3703982" y="1570229"/>
              <a:ext cx="6639339" cy="0"/>
            </a:xfrm>
            <a:prstGeom prst="line">
              <a:avLst/>
            </a:prstGeom>
            <a:ln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对角圆角矩形 7">
              <a:extLst>
                <a:ext uri="{FF2B5EF4-FFF2-40B4-BE49-F238E27FC236}">
                  <a16:creationId xmlns:a16="http://schemas.microsoft.com/office/drawing/2014/main" id="{271C7AD8-6D1D-BD4F-B743-B37DCCC53202}"/>
                </a:ext>
              </a:extLst>
            </p:cNvPr>
            <p:cNvSpPr/>
            <p:nvPr/>
          </p:nvSpPr>
          <p:spPr>
            <a:xfrm>
              <a:off x="3432313" y="1034105"/>
              <a:ext cx="543339" cy="543339"/>
            </a:xfrm>
            <a:prstGeom prst="round2Diag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sz="2000" b="1" u="none">
                  <a:cs typeface="Arial" panose="020B0604020202020204" pitchFamily="34" charset="0"/>
                </a:rPr>
                <a:t>1</a:t>
              </a:r>
              <a:endParaRPr kumimoji="1" lang="zh-CN" altLang="en-US" sz="2000" b="1" dirty="0">
                <a:ea typeface="FZLanTingHeiS-DB-GB" panose="02000000000000000000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9" name="标题 1">
            <a:extLst>
              <a:ext uri="{FF2B5EF4-FFF2-40B4-BE49-F238E27FC236}">
                <a16:creationId xmlns:a16="http://schemas.microsoft.com/office/drawing/2014/main" id="{30EEF05E-3A70-3A46-9D7D-01C624CFCEA5}"/>
              </a:ext>
            </a:extLst>
          </p:cNvPr>
          <p:cNvSpPr txBox="1">
            <a:spLocks/>
          </p:cNvSpPr>
          <p:nvPr/>
        </p:nvSpPr>
        <p:spPr>
          <a:xfrm>
            <a:off x="646189" y="994999"/>
            <a:ext cx="1800731" cy="4959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44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Arial" panose="02000000000000000000" pitchFamily="2" charset="-122"/>
                <a:ea typeface="FZLanTingHeiS-R-GB" panose="02000000000000000000" pitchFamily="2" charset="-122"/>
                <a:cs typeface="+mj-cs"/>
              </a:defRPr>
            </a:lvl1pPr>
          </a:lstStyle>
          <a:p>
            <a:pPr algn="ctr"/>
            <a:r>
              <a:rPr sz="2799" b="1" u="none" dirty="0">
                <a:solidFill>
                  <a:srgbClr val="990000"/>
                </a:solidFill>
              </a:rPr>
              <a:t>Contents</a:t>
            </a:r>
            <a:endParaRPr lang="zh-CN" altLang="en-US" sz="2799" b="1" dirty="0">
              <a:solidFill>
                <a:srgbClr val="990000"/>
              </a:solidFill>
              <a:latin typeface="Arial" panose="02000000000000000000" pitchFamily="2" charset="-122"/>
              <a:ea typeface="方正兰亭黑简体" panose="02000000000000000000" pitchFamily="2" charset="-122"/>
              <a:cs typeface="Arial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267749" y="1699558"/>
            <a:ext cx="6911008" cy="543339"/>
            <a:chOff x="3432313" y="1889316"/>
            <a:chExt cx="6911008" cy="543339"/>
          </a:xfrm>
        </p:grpSpPr>
        <p:cxnSp>
          <p:nvCxnSpPr>
            <p:cNvPr id="11" name="直线连接符 13">
              <a:extLst>
                <a:ext uri="{FF2B5EF4-FFF2-40B4-BE49-F238E27FC236}">
                  <a16:creationId xmlns:a16="http://schemas.microsoft.com/office/drawing/2014/main" id="{D7CFA81B-7F26-A940-B597-4DF4E4A47EA5}"/>
                </a:ext>
              </a:extLst>
            </p:cNvPr>
            <p:cNvCxnSpPr/>
            <p:nvPr/>
          </p:nvCxnSpPr>
          <p:spPr>
            <a:xfrm>
              <a:off x="3703982" y="2425440"/>
              <a:ext cx="6639339" cy="0"/>
            </a:xfrm>
            <a:prstGeom prst="line">
              <a:avLst/>
            </a:prstGeom>
            <a:ln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对角圆角矩形 11">
              <a:extLst>
                <a:ext uri="{FF2B5EF4-FFF2-40B4-BE49-F238E27FC236}">
                  <a16:creationId xmlns:a16="http://schemas.microsoft.com/office/drawing/2014/main" id="{B2447B12-37EF-E341-A2D5-BAB3B91ED546}"/>
                </a:ext>
              </a:extLst>
            </p:cNvPr>
            <p:cNvSpPr/>
            <p:nvPr/>
          </p:nvSpPr>
          <p:spPr>
            <a:xfrm>
              <a:off x="3432313" y="1889316"/>
              <a:ext cx="543339" cy="543339"/>
            </a:xfrm>
            <a:prstGeom prst="round2Diag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sz="2000" b="1" u="none">
                  <a:cs typeface="Arial" panose="020B0604020202020204" pitchFamily="34" charset="0"/>
                </a:rPr>
                <a:t>2</a:t>
              </a:r>
              <a:endParaRPr kumimoji="1" lang="zh-CN" altLang="en-US" sz="2000" b="1" dirty="0"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FB3ED04-8B69-3E4B-BE7B-BF4415B53DB9}"/>
                </a:ext>
              </a:extLst>
            </p:cNvPr>
            <p:cNvSpPr txBox="1"/>
            <p:nvPr/>
          </p:nvSpPr>
          <p:spPr>
            <a:xfrm>
              <a:off x="4200937" y="1927425"/>
              <a:ext cx="22772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sz="2000" u="none" dirty="0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Project Introduction</a:t>
              </a:r>
              <a:endParaRPr kumimoji="1" lang="zh-CN" altLang="en-US" sz="2000" dirty="0">
                <a:solidFill>
                  <a:srgbClr val="575756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267749" y="2375370"/>
            <a:ext cx="6911008" cy="543339"/>
            <a:chOff x="3432313" y="2750708"/>
            <a:chExt cx="6911008" cy="543339"/>
          </a:xfrm>
        </p:grpSpPr>
        <p:cxnSp>
          <p:nvCxnSpPr>
            <p:cNvPr id="15" name="直线连接符 16">
              <a:extLst>
                <a:ext uri="{FF2B5EF4-FFF2-40B4-BE49-F238E27FC236}">
                  <a16:creationId xmlns:a16="http://schemas.microsoft.com/office/drawing/2014/main" id="{9459AFDF-5D27-2645-BCA9-4366F5ED3468}"/>
                </a:ext>
              </a:extLst>
            </p:cNvPr>
            <p:cNvCxnSpPr/>
            <p:nvPr/>
          </p:nvCxnSpPr>
          <p:spPr>
            <a:xfrm>
              <a:off x="3703982" y="3286832"/>
              <a:ext cx="6639339" cy="0"/>
            </a:xfrm>
            <a:prstGeom prst="line">
              <a:avLst/>
            </a:prstGeom>
            <a:ln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对角圆角矩形 15">
              <a:extLst>
                <a:ext uri="{FF2B5EF4-FFF2-40B4-BE49-F238E27FC236}">
                  <a16:creationId xmlns:a16="http://schemas.microsoft.com/office/drawing/2014/main" id="{291DED04-5B3C-2D40-98E0-EB6D0A8B04BC}"/>
                </a:ext>
              </a:extLst>
            </p:cNvPr>
            <p:cNvSpPr/>
            <p:nvPr/>
          </p:nvSpPr>
          <p:spPr>
            <a:xfrm>
              <a:off x="3432313" y="2750708"/>
              <a:ext cx="543339" cy="543339"/>
            </a:xfrm>
            <a:prstGeom prst="round2Diag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sz="2000" b="1" u="none">
                  <a:cs typeface="Arial" panose="020B0604020202020204" pitchFamily="34" charset="0"/>
                </a:rPr>
                <a:t>3</a:t>
              </a:r>
              <a:endParaRPr kumimoji="1" lang="zh-CN" altLang="en-US" sz="2000" b="1" dirty="0"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FB3ED04-8B69-3E4B-BE7B-BF4415B53DB9}"/>
                </a:ext>
              </a:extLst>
            </p:cNvPr>
            <p:cNvSpPr txBox="1"/>
            <p:nvPr/>
          </p:nvSpPr>
          <p:spPr>
            <a:xfrm>
              <a:off x="4200938" y="2787938"/>
              <a:ext cx="24950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sz="2000" u="none" dirty="0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Technical Architecture</a:t>
              </a:r>
              <a:endParaRPr kumimoji="1" lang="zh-CN" altLang="en-US" sz="2000" dirty="0">
                <a:solidFill>
                  <a:srgbClr val="575756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267749" y="3051182"/>
            <a:ext cx="6911008" cy="543339"/>
            <a:chOff x="3432313" y="3662362"/>
            <a:chExt cx="6911008" cy="543339"/>
          </a:xfrm>
        </p:grpSpPr>
        <p:cxnSp>
          <p:nvCxnSpPr>
            <p:cNvPr id="19" name="直线连接符 19">
              <a:extLst>
                <a:ext uri="{FF2B5EF4-FFF2-40B4-BE49-F238E27FC236}">
                  <a16:creationId xmlns:a16="http://schemas.microsoft.com/office/drawing/2014/main" id="{DA95948E-1B35-C74F-B5D3-BAF372F305FB}"/>
                </a:ext>
              </a:extLst>
            </p:cNvPr>
            <p:cNvCxnSpPr/>
            <p:nvPr/>
          </p:nvCxnSpPr>
          <p:spPr>
            <a:xfrm>
              <a:off x="3703982" y="4198486"/>
              <a:ext cx="6639339" cy="0"/>
            </a:xfrm>
            <a:prstGeom prst="line">
              <a:avLst/>
            </a:prstGeom>
            <a:ln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对角圆角矩形 19">
              <a:extLst>
                <a:ext uri="{FF2B5EF4-FFF2-40B4-BE49-F238E27FC236}">
                  <a16:creationId xmlns:a16="http://schemas.microsoft.com/office/drawing/2014/main" id="{7759FC1B-3C0B-D942-8B9B-FC6352169D35}"/>
                </a:ext>
              </a:extLst>
            </p:cNvPr>
            <p:cNvSpPr/>
            <p:nvPr/>
          </p:nvSpPr>
          <p:spPr>
            <a:xfrm>
              <a:off x="3432313" y="3662362"/>
              <a:ext cx="543339" cy="543339"/>
            </a:xfrm>
            <a:prstGeom prst="round2Diag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sz="2000" b="1" u="none">
                  <a:cs typeface="Arial" panose="020B0604020202020204" pitchFamily="34" charset="0"/>
                </a:rPr>
                <a:t>4</a:t>
              </a:r>
              <a:endParaRPr kumimoji="1" lang="zh-CN" altLang="en-US" sz="2000" b="1" dirty="0"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FB3ED04-8B69-3E4B-BE7B-BF4415B53DB9}"/>
                </a:ext>
              </a:extLst>
            </p:cNvPr>
            <p:cNvSpPr txBox="1"/>
            <p:nvPr/>
          </p:nvSpPr>
          <p:spPr>
            <a:xfrm>
              <a:off x="4200938" y="3703198"/>
              <a:ext cx="11977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sz="2000" u="none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Functions</a:t>
              </a:r>
              <a:endParaRPr kumimoji="1" lang="zh-CN" altLang="en-US" sz="2000" dirty="0">
                <a:solidFill>
                  <a:srgbClr val="575756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267749" y="3726994"/>
            <a:ext cx="6911008" cy="543339"/>
            <a:chOff x="3432313" y="4574015"/>
            <a:chExt cx="6911008" cy="543339"/>
          </a:xfrm>
        </p:grpSpPr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62898963-F52B-714B-8D3D-3C6BDDD5048D}"/>
                </a:ext>
              </a:extLst>
            </p:cNvPr>
            <p:cNvCxnSpPr/>
            <p:nvPr/>
          </p:nvCxnSpPr>
          <p:spPr>
            <a:xfrm>
              <a:off x="3703982" y="5110139"/>
              <a:ext cx="6639339" cy="0"/>
            </a:xfrm>
            <a:prstGeom prst="line">
              <a:avLst/>
            </a:prstGeom>
            <a:ln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对角圆角矩形 23">
              <a:extLst>
                <a:ext uri="{FF2B5EF4-FFF2-40B4-BE49-F238E27FC236}">
                  <a16:creationId xmlns:a16="http://schemas.microsoft.com/office/drawing/2014/main" id="{AF8DC714-CEAB-5040-8B74-52E7C64E1AC7}"/>
                </a:ext>
              </a:extLst>
            </p:cNvPr>
            <p:cNvSpPr/>
            <p:nvPr/>
          </p:nvSpPr>
          <p:spPr>
            <a:xfrm>
              <a:off x="3432313" y="4574015"/>
              <a:ext cx="543339" cy="543339"/>
            </a:xfrm>
            <a:prstGeom prst="round2Diag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sz="2000" b="1" u="none">
                  <a:cs typeface="Arial" panose="020B0604020202020204" pitchFamily="34" charset="0"/>
                </a:rPr>
                <a:t>5</a:t>
              </a:r>
              <a:endParaRPr kumimoji="1" lang="zh-CN" altLang="en-US" sz="2000" b="1" dirty="0"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FB3ED04-8B69-3E4B-BE7B-BF4415B53DB9}"/>
                </a:ext>
              </a:extLst>
            </p:cNvPr>
            <p:cNvSpPr txBox="1"/>
            <p:nvPr/>
          </p:nvSpPr>
          <p:spPr>
            <a:xfrm>
              <a:off x="4200938" y="4614851"/>
              <a:ext cx="14004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sz="2000" u="none" dirty="0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Innovations</a:t>
              </a:r>
              <a:endParaRPr kumimoji="1" lang="en-US" altLang="zh-CN" sz="2000" dirty="0">
                <a:solidFill>
                  <a:srgbClr val="575756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267749" y="4402806"/>
            <a:ext cx="6911008" cy="543339"/>
            <a:chOff x="3432313" y="5535930"/>
            <a:chExt cx="6911008" cy="543339"/>
          </a:xfrm>
        </p:grpSpPr>
        <p:cxnSp>
          <p:nvCxnSpPr>
            <p:cNvPr id="27" name="直线连接符 25">
              <a:extLst>
                <a:ext uri="{FF2B5EF4-FFF2-40B4-BE49-F238E27FC236}">
                  <a16:creationId xmlns:a16="http://schemas.microsoft.com/office/drawing/2014/main" id="{44604F91-AB4C-294F-9337-2B8CC48C8EC5}"/>
                </a:ext>
              </a:extLst>
            </p:cNvPr>
            <p:cNvCxnSpPr/>
            <p:nvPr/>
          </p:nvCxnSpPr>
          <p:spPr>
            <a:xfrm>
              <a:off x="3703982" y="6072054"/>
              <a:ext cx="6639339" cy="0"/>
            </a:xfrm>
            <a:prstGeom prst="line">
              <a:avLst/>
            </a:prstGeom>
            <a:ln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对角圆角矩形 27">
              <a:extLst>
                <a:ext uri="{FF2B5EF4-FFF2-40B4-BE49-F238E27FC236}">
                  <a16:creationId xmlns:a16="http://schemas.microsoft.com/office/drawing/2014/main" id="{E272513A-7057-5E45-BD3C-018F5437C7EE}"/>
                </a:ext>
              </a:extLst>
            </p:cNvPr>
            <p:cNvSpPr/>
            <p:nvPr/>
          </p:nvSpPr>
          <p:spPr>
            <a:xfrm>
              <a:off x="3432313" y="5535930"/>
              <a:ext cx="543339" cy="543339"/>
            </a:xfrm>
            <a:prstGeom prst="round2Diag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sz="2000" b="1" u="none">
                  <a:cs typeface="Arial" panose="020B0604020202020204" pitchFamily="34" charset="0"/>
                </a:rPr>
                <a:t>6</a:t>
              </a:r>
              <a:endParaRPr kumimoji="1" lang="zh-CN" altLang="en-US" sz="2000" b="1" dirty="0"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FB3ED04-8B69-3E4B-BE7B-BF4415B53DB9}"/>
                </a:ext>
              </a:extLst>
            </p:cNvPr>
            <p:cNvSpPr txBox="1"/>
            <p:nvPr/>
          </p:nvSpPr>
          <p:spPr>
            <a:xfrm>
              <a:off x="4200936" y="5576766"/>
              <a:ext cx="17188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sz="2000" u="none" dirty="0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Business </a:t>
              </a:r>
              <a:r>
                <a:rPr lang="en-US" sz="2000" u="none" dirty="0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V</a:t>
              </a:r>
              <a:r>
                <a:rPr sz="2000" u="none" dirty="0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alue</a:t>
              </a:r>
              <a:endParaRPr kumimoji="1" lang="zh-CN" altLang="en-US" sz="2000" dirty="0">
                <a:solidFill>
                  <a:srgbClr val="575756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3420030"/>
            <a:ext cx="2857500" cy="2857500"/>
          </a:xfrm>
          <a:prstGeom prst="rect">
            <a:avLst/>
          </a:prstGeom>
        </p:spPr>
      </p:pic>
      <p:sp>
        <p:nvSpPr>
          <p:cNvPr id="31" name="TextBox 2"/>
          <p:cNvSpPr txBox="1"/>
          <p:nvPr/>
        </p:nvSpPr>
        <p:spPr>
          <a:xfrm>
            <a:off x="7617203" y="29861"/>
            <a:ext cx="4481493" cy="12179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t>- Overview</a:t>
            </a:r>
          </a:p>
          <a:p>
            <a:r>
              <a:t>- Team Introduction</a:t>
            </a:r>
          </a:p>
          <a:p>
            <a:r>
              <a:t>- Project Introduction</a:t>
            </a:r>
          </a:p>
          <a:p>
            <a:r>
              <a:t>- Technical Architecture</a:t>
            </a:r>
          </a:p>
          <a:p>
            <a:r>
              <a:t>- Functions</a:t>
            </a:r>
          </a:p>
          <a:p>
            <a:r>
              <a:t>- Innovations</a:t>
            </a:r>
          </a:p>
          <a:p>
            <a:r>
              <a:t>- Business Value</a:t>
            </a:r>
          </a:p>
          <a:p>
            <a:r>
              <a:t>- Verification</a:t>
            </a:r>
          </a:p>
          <a:p>
            <a:r>
              <a:t>- Demo &amp; Follow-up Plan</a:t>
            </a:r>
          </a:p>
          <a:p>
            <a:r>
              <a:t>- Achievements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3267749" y="5078618"/>
            <a:ext cx="6911008" cy="543339"/>
            <a:chOff x="3432313" y="4574015"/>
            <a:chExt cx="6911008" cy="543339"/>
          </a:xfrm>
        </p:grpSpPr>
        <p:cxnSp>
          <p:nvCxnSpPr>
            <p:cNvPr id="33" name="直线连接符 22">
              <a:extLst>
                <a:ext uri="{FF2B5EF4-FFF2-40B4-BE49-F238E27FC236}">
                  <a16:creationId xmlns:a16="http://schemas.microsoft.com/office/drawing/2014/main" id="{62898963-F52B-714B-8D3D-3C6BDDD5048D}"/>
                </a:ext>
              </a:extLst>
            </p:cNvPr>
            <p:cNvCxnSpPr/>
            <p:nvPr/>
          </p:nvCxnSpPr>
          <p:spPr>
            <a:xfrm>
              <a:off x="3703982" y="5110139"/>
              <a:ext cx="6639339" cy="0"/>
            </a:xfrm>
            <a:prstGeom prst="line">
              <a:avLst/>
            </a:prstGeom>
            <a:ln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对角圆角矩形 33">
              <a:extLst>
                <a:ext uri="{FF2B5EF4-FFF2-40B4-BE49-F238E27FC236}">
                  <a16:creationId xmlns:a16="http://schemas.microsoft.com/office/drawing/2014/main" id="{AF8DC714-CEAB-5040-8B74-52E7C64E1AC7}"/>
                </a:ext>
              </a:extLst>
            </p:cNvPr>
            <p:cNvSpPr/>
            <p:nvPr/>
          </p:nvSpPr>
          <p:spPr>
            <a:xfrm>
              <a:off x="3432313" y="4574015"/>
              <a:ext cx="543339" cy="543339"/>
            </a:xfrm>
            <a:prstGeom prst="round2Diag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sz="2000" b="1" u="none">
                  <a:cs typeface="Arial" panose="020B0604020202020204" pitchFamily="34" charset="0"/>
                </a:rPr>
                <a:t>7</a:t>
              </a:r>
              <a:endParaRPr kumimoji="1" lang="zh-CN" altLang="en-US" sz="2000" b="1" dirty="0"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FFB3ED04-8B69-3E4B-BE7B-BF4415B53DB9}"/>
                </a:ext>
              </a:extLst>
            </p:cNvPr>
            <p:cNvSpPr txBox="1"/>
            <p:nvPr/>
          </p:nvSpPr>
          <p:spPr>
            <a:xfrm>
              <a:off x="4200938" y="4614851"/>
              <a:ext cx="26407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u="none" dirty="0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Demo &amp; Follow-up</a:t>
              </a:r>
              <a:r>
                <a:rPr sz="2000" u="none" dirty="0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 Plan</a:t>
              </a:r>
              <a:endParaRPr kumimoji="1" lang="en-US" altLang="zh-CN" sz="2000" dirty="0">
                <a:solidFill>
                  <a:srgbClr val="575756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267749" y="5754431"/>
            <a:ext cx="6911008" cy="543339"/>
            <a:chOff x="3432313" y="5535930"/>
            <a:chExt cx="6911008" cy="543339"/>
          </a:xfrm>
        </p:grpSpPr>
        <p:cxnSp>
          <p:nvCxnSpPr>
            <p:cNvPr id="37" name="直线连接符 25">
              <a:extLst>
                <a:ext uri="{FF2B5EF4-FFF2-40B4-BE49-F238E27FC236}">
                  <a16:creationId xmlns:a16="http://schemas.microsoft.com/office/drawing/2014/main" id="{44604F91-AB4C-294F-9337-2B8CC48C8EC5}"/>
                </a:ext>
              </a:extLst>
            </p:cNvPr>
            <p:cNvCxnSpPr/>
            <p:nvPr/>
          </p:nvCxnSpPr>
          <p:spPr>
            <a:xfrm>
              <a:off x="3703982" y="6072054"/>
              <a:ext cx="6639339" cy="0"/>
            </a:xfrm>
            <a:prstGeom prst="line">
              <a:avLst/>
            </a:prstGeom>
            <a:ln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对角圆角矩形 37">
              <a:extLst>
                <a:ext uri="{FF2B5EF4-FFF2-40B4-BE49-F238E27FC236}">
                  <a16:creationId xmlns:a16="http://schemas.microsoft.com/office/drawing/2014/main" id="{E272513A-7057-5E45-BD3C-018F5437C7EE}"/>
                </a:ext>
              </a:extLst>
            </p:cNvPr>
            <p:cNvSpPr/>
            <p:nvPr/>
          </p:nvSpPr>
          <p:spPr>
            <a:xfrm>
              <a:off x="3432313" y="5535930"/>
              <a:ext cx="543339" cy="543339"/>
            </a:xfrm>
            <a:prstGeom prst="round2DiagRect">
              <a:avLst/>
            </a:prstGeom>
            <a:solidFill>
              <a:srgbClr val="DEDE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sz="2000" b="1" u="none">
                  <a:cs typeface="Arial" panose="020B0604020202020204" pitchFamily="34" charset="0"/>
                </a:rPr>
                <a:t>8</a:t>
              </a:r>
              <a:endParaRPr kumimoji="1" lang="zh-CN" altLang="en-US" sz="2000" b="1" dirty="0"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FB3ED04-8B69-3E4B-BE7B-BF4415B53DB9}"/>
                </a:ext>
              </a:extLst>
            </p:cNvPr>
            <p:cNvSpPr txBox="1"/>
            <p:nvPr/>
          </p:nvSpPr>
          <p:spPr>
            <a:xfrm>
              <a:off x="4200936" y="5576766"/>
              <a:ext cx="16580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sz="2000" u="none">
                  <a:solidFill>
                    <a:srgbClr val="575756"/>
                  </a:solidFill>
                  <a:latin typeface="+mn-lt"/>
                  <a:cs typeface="Arial" panose="020B0604020202020204" pitchFamily="34" charset="0"/>
                </a:rPr>
                <a:t>Achievements</a:t>
              </a:r>
              <a:endParaRPr kumimoji="1" lang="zh-CN" altLang="en-US" sz="2000" dirty="0">
                <a:solidFill>
                  <a:srgbClr val="575756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0855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996993" y="4167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sz="2799" b="1" u="none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Team Introduction</a:t>
            </a:r>
            <a:endParaRPr lang="zh-CN" altLang="en-US" sz="2799" b="1" dirty="0">
              <a:solidFill>
                <a:srgbClr val="99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6435634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  <p:sp>
        <p:nvSpPr>
          <p:cNvPr id="10" name="Google Shape;1578;p16">
            <a:extLst>
              <a:ext uri="{FF2B5EF4-FFF2-40B4-BE49-F238E27FC236}">
                <a16:creationId xmlns:a16="http://schemas.microsoft.com/office/drawing/2014/main" id="{2FA042B2-A19C-4802-8F08-155729BEE0A8}"/>
              </a:ext>
            </a:extLst>
          </p:cNvPr>
          <p:cNvSpPr txBox="1"/>
          <p:nvPr/>
        </p:nvSpPr>
        <p:spPr>
          <a:xfrm>
            <a:off x="745078" y="3861853"/>
            <a:ext cx="2631056" cy="10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Edu: University of Cape Town - PGDip Management Information Systems</a:t>
            </a:r>
          </a:p>
          <a:p>
            <a:r>
              <a:t>Role: Team Lead / Developer</a:t>
            </a:r>
          </a:p>
          <a:p>
            <a:r>
              <a:t>Huawei ID: hid_vulasaa828mq4x3</a:t>
            </a:r>
          </a:p>
          <a:p>
            <a:r>
              <a:t>Team: e-khadi</a:t>
            </a:r>
          </a:p>
          <a:p>
            <a:r>
              <a:t>Experience: Built Shopware 6 plugin, credit engine, and integrations</a:t>
            </a:r>
          </a:p>
        </p:txBody>
      </p:sp>
      <p:sp>
        <p:nvSpPr>
          <p:cNvPr id="12" name="Google Shape;1579;p16">
            <a:extLst>
              <a:ext uri="{FF2B5EF4-FFF2-40B4-BE49-F238E27FC236}">
                <a16:creationId xmlns:a16="http://schemas.microsoft.com/office/drawing/2014/main" id="{D2B75F4C-6291-48A8-950B-1A3CC0080E1B}"/>
              </a:ext>
            </a:extLst>
          </p:cNvPr>
          <p:cNvSpPr txBox="1"/>
          <p:nvPr/>
        </p:nvSpPr>
        <p:spPr>
          <a:xfrm>
            <a:off x="3416936" y="3499331"/>
            <a:ext cx="1926000" cy="10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/>
        </p:txBody>
      </p:sp>
      <p:sp>
        <p:nvSpPr>
          <p:cNvPr id="13" name="Google Shape;1580;p16">
            <a:extLst>
              <a:ext uri="{FF2B5EF4-FFF2-40B4-BE49-F238E27FC236}">
                <a16:creationId xmlns:a16="http://schemas.microsoft.com/office/drawing/2014/main" id="{C090F693-0E4C-4FF5-AD82-0EA871360334}"/>
              </a:ext>
            </a:extLst>
          </p:cNvPr>
          <p:cNvSpPr txBox="1"/>
          <p:nvPr/>
        </p:nvSpPr>
        <p:spPr>
          <a:xfrm>
            <a:off x="5467173" y="3495627"/>
            <a:ext cx="2103300" cy="1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/>
        </p:txBody>
      </p:sp>
      <p:sp>
        <p:nvSpPr>
          <p:cNvPr id="16" name="Google Shape;1583;p16">
            <a:extLst>
              <a:ext uri="{FF2B5EF4-FFF2-40B4-BE49-F238E27FC236}">
                <a16:creationId xmlns:a16="http://schemas.microsoft.com/office/drawing/2014/main" id="{4EC067CC-A7E6-4B84-9070-18CC2351304D}"/>
              </a:ext>
            </a:extLst>
          </p:cNvPr>
          <p:cNvSpPr txBox="1"/>
          <p:nvPr/>
        </p:nvSpPr>
        <p:spPr>
          <a:xfrm>
            <a:off x="1196749" y="3181390"/>
            <a:ext cx="1926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Fanelesibonge Mbuyazi</a:t>
            </a:r>
          </a:p>
        </p:txBody>
      </p:sp>
      <p:sp>
        <p:nvSpPr>
          <p:cNvPr id="17" name="Google Shape;1584;p16">
            <a:extLst>
              <a:ext uri="{FF2B5EF4-FFF2-40B4-BE49-F238E27FC236}">
                <a16:creationId xmlns:a16="http://schemas.microsoft.com/office/drawing/2014/main" id="{9E89A1B2-A0D8-4F7E-925C-39A336AD73B7}"/>
              </a:ext>
            </a:extLst>
          </p:cNvPr>
          <p:cNvSpPr txBox="1"/>
          <p:nvPr/>
        </p:nvSpPr>
        <p:spPr>
          <a:xfrm>
            <a:off x="3424474" y="3161871"/>
            <a:ext cx="1926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/>
        </p:txBody>
      </p:sp>
      <p:sp>
        <p:nvSpPr>
          <p:cNvPr id="18" name="Google Shape;1585;p16">
            <a:extLst>
              <a:ext uri="{FF2B5EF4-FFF2-40B4-BE49-F238E27FC236}">
                <a16:creationId xmlns:a16="http://schemas.microsoft.com/office/drawing/2014/main" id="{DFDC060B-0407-45DA-8782-14E8524017C3}"/>
              </a:ext>
            </a:extLst>
          </p:cNvPr>
          <p:cNvSpPr txBox="1"/>
          <p:nvPr/>
        </p:nvSpPr>
        <p:spPr>
          <a:xfrm>
            <a:off x="5467248" y="3159868"/>
            <a:ext cx="1926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/>
        </p:txBody>
      </p:sp>
      <p:sp>
        <p:nvSpPr>
          <p:cNvPr id="23" name="Google Shape;1591;p16">
            <a:extLst>
              <a:ext uri="{FF2B5EF4-FFF2-40B4-BE49-F238E27FC236}">
                <a16:creationId xmlns:a16="http://schemas.microsoft.com/office/drawing/2014/main" id="{BF294801-DD35-4316-A8AF-4A3B4ABACD91}"/>
              </a:ext>
            </a:extLst>
          </p:cNvPr>
          <p:cNvSpPr txBox="1"/>
          <p:nvPr/>
        </p:nvSpPr>
        <p:spPr>
          <a:xfrm>
            <a:off x="8112060" y="3140160"/>
            <a:ext cx="1926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/>
        </p:txBody>
      </p:sp>
      <p:pic>
        <p:nvPicPr>
          <p:cNvPr id="1034" name="Picture 10" descr="C:\Users\l00545010\AppData\Roaming\eSpace_Desktop\UserData\l00545010\imagefiles\6A716D5B-5459-44BD-9772-F393624AFD97.png">
            <a:extLst>
              <a:ext uri="{FF2B5EF4-FFF2-40B4-BE49-F238E27FC236}">
                <a16:creationId xmlns:a16="http://schemas.microsoft.com/office/drawing/2014/main" id="{9FFB6DC5-E831-4F32-BCCA-AB0436F13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422" y="1426456"/>
            <a:ext cx="1533525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:\Users\l00545010\AppData\Roaming\eSpace_Desktop\UserData\l00545010\imagefiles\BA13341E-8D29-473B-9AFC-511C48ED5078.png">
            <a:extLst>
              <a:ext uri="{FF2B5EF4-FFF2-40B4-BE49-F238E27FC236}">
                <a16:creationId xmlns:a16="http://schemas.microsoft.com/office/drawing/2014/main" id="{DB90C32E-5AC1-4654-83F1-1D17080FD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5071" y="1407726"/>
            <a:ext cx="139065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:\Users\l00545010\AppData\Roaming\eSpace_Desktop\UserData\l00545010\imagefiles\29A8F414-B4F2-445A-84D8-5A55A295EFA9.png">
            <a:extLst>
              <a:ext uri="{FF2B5EF4-FFF2-40B4-BE49-F238E27FC236}">
                <a16:creationId xmlns:a16="http://schemas.microsoft.com/office/drawing/2014/main" id="{BD1BA4A6-0D55-4ADA-BA3C-9A5BFBCAB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9845" y="1417251"/>
            <a:ext cx="127635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斜纹 2">
            <a:extLst>
              <a:ext uri="{FF2B5EF4-FFF2-40B4-BE49-F238E27FC236}">
                <a16:creationId xmlns:a16="http://schemas.microsoft.com/office/drawing/2014/main" id="{3875FC38-B825-4278-B1CA-5E67BDE376D8}"/>
              </a:ext>
            </a:extLst>
          </p:cNvPr>
          <p:cNvSpPr/>
          <p:nvPr/>
        </p:nvSpPr>
        <p:spPr>
          <a:xfrm rot="5400000">
            <a:off x="9284979" y="307405"/>
            <a:ext cx="3199283" cy="2594675"/>
          </a:xfrm>
          <a:prstGeom prst="diagStrip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  <p:extLst>
      <p:ext uri="{BB962C8B-B14F-4D97-AF65-F5344CB8AC3E}">
        <p14:creationId xmlns:p14="http://schemas.microsoft.com/office/powerpoint/2010/main" val="740462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799" b="1" u="none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dirty="0"/>
              <a:t>Project Introduction</a:t>
            </a:r>
            <a:endParaRPr lang="zh-CN" alt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21" y="1108614"/>
            <a:ext cx="10729366" cy="1654725"/>
          </a:xfrm>
        </p:spPr>
        <p:txBody>
          <a:bodyPr/>
          <a:lstStyle/>
          <a:p>
            <a:r>
              <a:t>- Background: SASSA grants are limited and often exhausted before month-end</a:t>
            </a:r>
          </a:p>
          <a:p>
            <a:r>
              <a:t>- e-Khadi integrates with Shopware checkout to apply store credit for essential goods</a:t>
            </a:r>
          </a:p>
          <a:p>
            <a:r>
              <a:t>- Stokvel groups pool funds and rotate payouts; members can request mid-month credit</a:t>
            </a:r>
          </a:p>
          <a:p>
            <a:r>
              <a:t>- Area enforcement ensures credit is spent at approved spaza shops</a:t>
            </a:r>
          </a:p>
          <a:p>
            <a:r>
              <a:t>- Automatic repayment from the next grant reduces default risk</a:t>
            </a:r>
          </a:p>
        </p:txBody>
      </p:sp>
      <p:sp>
        <p:nvSpPr>
          <p:cNvPr id="12" name="矩形 11"/>
          <p:cNvSpPr/>
          <p:nvPr/>
        </p:nvSpPr>
        <p:spPr>
          <a:xfrm>
            <a:off x="0" y="6435634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397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sz="2799" b="1" u="none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Technical Architecture</a:t>
            </a:r>
            <a:endParaRPr lang="zh-CN" altLang="en-US" sz="2799" b="1" dirty="0">
              <a:solidFill>
                <a:srgbClr val="99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317" y="1633372"/>
            <a:ext cx="10677711" cy="2242342"/>
          </a:xfr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r>
              <a:t>- Core platform: Shopware 6.6 + e-Khadi plugin (PHP)</a:t>
            </a:r>
          </a:p>
          <a:p>
            <a:r>
              <a:t>- Huawei Cloud RDS for MySQL hosts transactional data</a:t>
            </a:r>
          </a:p>
          <a:p>
            <a:r>
              <a:t>- APIG secures /api/ekhadi/* endpoints for mobile and partner access</a:t>
            </a:r>
          </a:p>
          <a:p>
            <a:r>
              <a:t>- OBS stores receipts, documents, and export files</a:t>
            </a:r>
          </a:p>
          <a:p>
            <a:r>
              <a:t>- SMN sends SMS/email notifications for approvals and repayments</a:t>
            </a:r>
          </a:p>
          <a:p>
            <a:r>
              <a:t>- FunctionGraph runs scheduled analytics, reminders, and repayment jobs</a:t>
            </a:r>
          </a:p>
          <a:p>
            <a:r>
              <a:t>- CodeArts Pipeline automates build/test/deploy for reliable releases</a:t>
            </a:r>
          </a:p>
        </p:txBody>
      </p:sp>
      <p:sp>
        <p:nvSpPr>
          <p:cNvPr id="12" name="矩形 11"/>
          <p:cNvSpPr/>
          <p:nvPr/>
        </p:nvSpPr>
        <p:spPr>
          <a:xfrm>
            <a:off x="0" y="6435634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433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sz="2799" b="1" u="none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Technical Architecture</a:t>
            </a:r>
            <a:r>
              <a:rPr lang="en-US" sz="2799" b="1" u="none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2000" b="1" u="none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sz="2000" b="1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en-US" sz="2000" b="1" u="none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olution Overview</a:t>
            </a:r>
            <a:endParaRPr sz="2000" b="1" u="none" dirty="0">
              <a:solidFill>
                <a:srgbClr val="99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890" y="993284"/>
            <a:ext cx="10729366" cy="357721"/>
          </a:xfrm>
        </p:spPr>
        <p:txBody>
          <a:bodyPr>
            <a:normAutofit fontScale="85000" lnSpcReduction="20000"/>
          </a:bodyPr>
          <a:lstStyle/>
          <a:p>
            <a:pPr marL="285636" indent="-28563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u="none" dirty="0">
                <a:solidFill>
                  <a:schemeClr val="bg1">
                    <a:lumMod val="65000"/>
                  </a:schemeClr>
                </a:solidFill>
              </a:rPr>
              <a:t>Solution deployment architecture diagram</a:t>
            </a:r>
          </a:p>
        </p:txBody>
      </p:sp>
      <p:sp>
        <p:nvSpPr>
          <p:cNvPr id="12" name="矩形 11"/>
          <p:cNvSpPr/>
          <p:nvPr/>
        </p:nvSpPr>
        <p:spPr>
          <a:xfrm>
            <a:off x="0" y="6435634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04118" y="5905585"/>
            <a:ext cx="9475373" cy="276999"/>
          </a:xfrm>
          <a:prstGeom prst="rect">
            <a:avLst/>
          </a:prstGeom>
        </p:spPr>
        <p:txBody>
          <a:bodyPr wrap="square">
            <a:spAutoFit/>
          </a:bodyPr>
          <a:lstStyle/>
          <a:p/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67" y="1571815"/>
            <a:ext cx="8253981" cy="3356068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 bwMode="auto">
          <a:xfrm>
            <a:off x="304118" y="4888881"/>
            <a:ext cx="10592754" cy="1014220"/>
          </a:xfrm>
          <a:prstGeom prst="rect">
            <a:avLst/>
          </a:prstGeom>
          <a:solidFill>
            <a:srgbClr val="E7B98A">
              <a:lumMod val="60000"/>
              <a:lumOff val="40000"/>
              <a:alpha val="56078"/>
            </a:srgbClr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/>
        </p:txBody>
      </p:sp>
      <p:sp>
        <p:nvSpPr>
          <p:cNvPr id="13" name="矩形 12"/>
          <p:cNvSpPr/>
          <p:nvPr/>
        </p:nvSpPr>
        <p:spPr>
          <a:xfrm>
            <a:off x="8440363" y="1733154"/>
            <a:ext cx="3822151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Service Description</a:t>
            </a:r>
          </a:p>
          <a:p>
            <a:r>
              <a:t>1. Customer applies bucket credit in Storefront; rules are validated.</a:t>
            </a:r>
          </a:p>
          <a:p>
            <a:r>
              <a:t>2. e-Khadi records transactions and balances in RDS.</a:t>
            </a:r>
          </a:p>
          <a:p>
            <a:r>
              <a:t>3. Documents and exports are stored in OBS.</a:t>
            </a:r>
          </a:p>
          <a:p>
            <a:r>
              <a:t>4. SMN notifies members about approvals, payouts, and repayments.</a:t>
            </a:r>
          </a:p>
          <a:p>
            <a:r>
              <a:t>5. FunctionGraph runs scheduled scoring and repayment tasks.</a:t>
            </a:r>
          </a:p>
          <a:p>
            <a:r>
              <a:t>6. External apps integrate through APIG.</a:t>
            </a:r>
          </a:p>
        </p:txBody>
      </p:sp>
      <p:sp>
        <p:nvSpPr>
          <p:cNvPr id="14" name="矩形 13"/>
          <p:cNvSpPr/>
          <p:nvPr/>
        </p:nvSpPr>
        <p:spPr>
          <a:xfrm>
            <a:off x="304118" y="6179910"/>
            <a:ext cx="10680942" cy="276999"/>
          </a:xfrm>
          <a:prstGeom prst="rect">
            <a:avLst/>
          </a:prstGeom>
        </p:spPr>
        <p:txBody>
          <a:bodyPr wrap="square">
            <a:spAutoFit/>
          </a:bodyPr>
          <a:lstStyle/>
          <a:p/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A5A341-4DCD-4E8C-BE5B-235017B2DF68}"/>
              </a:ext>
            </a:extLst>
          </p:cNvPr>
          <p:cNvSpPr/>
          <p:nvPr/>
        </p:nvSpPr>
        <p:spPr>
          <a:xfrm>
            <a:off x="808264" y="2357500"/>
            <a:ext cx="604157" cy="225507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88BD3D-579A-4201-A98D-7D07A0809A1E}"/>
              </a:ext>
            </a:extLst>
          </p:cNvPr>
          <p:cNvSpPr/>
          <p:nvPr/>
        </p:nvSpPr>
        <p:spPr>
          <a:xfrm>
            <a:off x="1684689" y="2357499"/>
            <a:ext cx="604157" cy="225507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38C8371-CF90-41DE-B41E-A779B20C4FC5}"/>
              </a:ext>
            </a:extLst>
          </p:cNvPr>
          <p:cNvSpPr/>
          <p:nvPr/>
        </p:nvSpPr>
        <p:spPr>
          <a:xfrm>
            <a:off x="1684689" y="4009424"/>
            <a:ext cx="1103414" cy="183401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u="none">
                <a:solidFill>
                  <a:schemeClr val="bg1">
                    <a:lumMod val="65000"/>
                  </a:schemeClr>
                </a:solidFill>
              </a:rPr>
              <a:t>2. Imports edge 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sz="800" u="none">
                <a:solidFill>
                  <a:schemeClr val="bg1">
                    <a:lumMod val="65000"/>
                  </a:schemeClr>
                </a:solidFill>
              </a:rPr>
              <a:t>video streams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  <a:latin typeface="Arial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52B4D6F-C8FA-4D22-82EF-09A1997CE3E2}"/>
              </a:ext>
            </a:extLst>
          </p:cNvPr>
          <p:cNvSpPr/>
          <p:nvPr/>
        </p:nvSpPr>
        <p:spPr>
          <a:xfrm>
            <a:off x="2595134" y="4277649"/>
            <a:ext cx="998514" cy="225507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B664792-E309-4953-BF3D-93F6C9F0C5A8}"/>
              </a:ext>
            </a:extLst>
          </p:cNvPr>
          <p:cNvSpPr/>
          <p:nvPr/>
        </p:nvSpPr>
        <p:spPr>
          <a:xfrm>
            <a:off x="3199283" y="3908169"/>
            <a:ext cx="1474369" cy="380978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u="none" dirty="0">
                <a:solidFill>
                  <a:schemeClr val="bg1">
                    <a:lumMod val="65000"/>
                  </a:schemeClr>
                </a:solidFill>
              </a:rPr>
              <a:t>1. Delivers algorithm</a:t>
            </a:r>
            <a:r>
              <a:rPr lang="en-US" sz="800" u="none" dirty="0">
                <a:solidFill>
                  <a:schemeClr val="bg1">
                    <a:lumMod val="65000"/>
                  </a:schemeClr>
                </a:solidFill>
              </a:rPr>
              <a:t> to extract facial features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  <a:latin typeface="Arial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A43A01E-9F3B-4F0F-B977-CD9B479508A2}"/>
              </a:ext>
            </a:extLst>
          </p:cNvPr>
          <p:cNvSpPr/>
          <p:nvPr/>
        </p:nvSpPr>
        <p:spPr>
          <a:xfrm>
            <a:off x="2862841" y="2963805"/>
            <a:ext cx="1158145" cy="380978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u="none" dirty="0">
                <a:solidFill>
                  <a:schemeClr val="bg1">
                    <a:lumMod val="65000"/>
                  </a:schemeClr>
                </a:solidFill>
              </a:rPr>
              <a:t>3. Passes face thumbnail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  <a:latin typeface="Arial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D358F59-6D84-45D9-8E47-C12EFB2BEDB3}"/>
              </a:ext>
            </a:extLst>
          </p:cNvPr>
          <p:cNvSpPr/>
          <p:nvPr/>
        </p:nvSpPr>
        <p:spPr>
          <a:xfrm>
            <a:off x="3332860" y="1965265"/>
            <a:ext cx="1056473" cy="380978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u="none">
                <a:solidFill>
                  <a:schemeClr val="bg1">
                    <a:lumMod val="65000"/>
                  </a:schemeClr>
                </a:solidFill>
              </a:rPr>
              <a:t>5. Issues dispatch messages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  <a:latin typeface="Arial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68E1158-D2FF-4F5D-9859-91B90B64BEE4}"/>
              </a:ext>
            </a:extLst>
          </p:cNvPr>
          <p:cNvSpPr/>
          <p:nvPr/>
        </p:nvSpPr>
        <p:spPr>
          <a:xfrm>
            <a:off x="4486957" y="4009424"/>
            <a:ext cx="998515" cy="380978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A776E7-8A83-4F06-AAED-F35C966C169C}"/>
              </a:ext>
            </a:extLst>
          </p:cNvPr>
          <p:cNvSpPr/>
          <p:nvPr/>
        </p:nvSpPr>
        <p:spPr>
          <a:xfrm>
            <a:off x="5420813" y="2955844"/>
            <a:ext cx="1226570" cy="380978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u="none" dirty="0">
                <a:solidFill>
                  <a:schemeClr val="bg1">
                    <a:lumMod val="65000"/>
                  </a:schemeClr>
                </a:solidFill>
              </a:rPr>
              <a:t>4. Compare face recognition results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  <a:latin typeface="Arial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BDF7635-32F4-46FC-9842-35739A2FE198}"/>
              </a:ext>
            </a:extLst>
          </p:cNvPr>
          <p:cNvSpPr/>
          <p:nvPr/>
        </p:nvSpPr>
        <p:spPr>
          <a:xfrm>
            <a:off x="7081944" y="3007371"/>
            <a:ext cx="998515" cy="304484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u="none" dirty="0">
                <a:solidFill>
                  <a:schemeClr val="bg1">
                    <a:lumMod val="65000"/>
                  </a:schemeClr>
                </a:solidFill>
              </a:rPr>
              <a:t>6. Archives data in </a:t>
            </a:r>
            <a:r>
              <a:rPr lang="en-US" sz="800" u="none" dirty="0">
                <a:solidFill>
                  <a:schemeClr val="bg1">
                    <a:lumMod val="65000"/>
                  </a:schemeClr>
                </a:solidFill>
              </a:rPr>
              <a:t>database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  <a:latin typeface="Arial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A0443A4-12B4-4606-A685-FD7834E04023}"/>
              </a:ext>
            </a:extLst>
          </p:cNvPr>
          <p:cNvSpPr/>
          <p:nvPr/>
        </p:nvSpPr>
        <p:spPr>
          <a:xfrm>
            <a:off x="2595134" y="2509297"/>
            <a:ext cx="998515" cy="380978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斜纹 2">
            <a:extLst>
              <a:ext uri="{FF2B5EF4-FFF2-40B4-BE49-F238E27FC236}">
                <a16:creationId xmlns:a16="http://schemas.microsoft.com/office/drawing/2014/main" id="{66F3837C-338B-411B-9EBE-BC7801FC99EF}"/>
              </a:ext>
            </a:extLst>
          </p:cNvPr>
          <p:cNvSpPr/>
          <p:nvPr/>
        </p:nvSpPr>
        <p:spPr>
          <a:xfrm rot="5400000">
            <a:off x="9284979" y="307405"/>
            <a:ext cx="3199283" cy="2594675"/>
          </a:xfrm>
          <a:prstGeom prst="diagStrip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6035040" cy="640080"/>
          </a:xfrm>
          <a:prstGeom prst="roundRect">
            <a:avLst/>
          </a:prstGeom>
          <a:solidFill>
            <a:srgbClr val="F3F4F6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Users: Customers, Admins, Partners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2331720"/>
            <a:ext cx="6035040" cy="640080"/>
          </a:xfrm>
          <a:prstGeom prst="roundRect">
            <a:avLst/>
          </a:prstGeom>
          <a:solidFill>
            <a:srgbClr val="E5F2FF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Shopware Storefront + Admin 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291840"/>
            <a:ext cx="6035040" cy="640080"/>
          </a:xfrm>
          <a:prstGeom prst="roundRect">
            <a:avLst/>
          </a:prstGeom>
          <a:solidFill>
            <a:srgbClr val="E8FFF4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Shopware 6 Core + e-Khadi Plugin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51960"/>
            <a:ext cx="6035040" cy="768096"/>
          </a:xfrm>
          <a:prstGeom prst="roundRect">
            <a:avLst/>
          </a:prstGeom>
          <a:solidFill>
            <a:srgbClr val="F0F6FF"/>
          </a:solidFill>
          <a:ln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Huawei Cloud: RDS for MySQL | APIG | OBS | SMN | FunctionGraph | CodeArts Pipeline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566160" y="2011680"/>
            <a:ext cx="0" cy="32004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66160" y="2971800"/>
            <a:ext cx="0" cy="32004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566160" y="3931920"/>
            <a:ext cx="0" cy="32004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399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sz="2799" b="1" u="none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2799" b="1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Technical Architecture</a:t>
            </a:r>
            <a:r>
              <a:rPr lang="en-US" sz="2799" b="1" u="none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2000" b="1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Huawei Cloud </a:t>
            </a:r>
            <a:r>
              <a:rPr lang="en-US" sz="2000" b="1" u="none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Service Dashboard</a:t>
            </a:r>
            <a:endParaRPr sz="2799" b="1" u="none" dirty="0">
              <a:solidFill>
                <a:srgbClr val="99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052" name="Picture 4" descr="C:\Users\l00545010\AppData\Roaming\eSpace_Desktop\UserData\l00545010\imagefiles\originalImgfiles\49634FE4-D2F9-4AD4-9E90-414F1EBF4621.png">
            <a:extLst>
              <a:ext uri="{FF2B5EF4-FFF2-40B4-BE49-F238E27FC236}">
                <a16:creationId xmlns:a16="http://schemas.microsoft.com/office/drawing/2014/main" id="{B84DB760-A93C-4F0B-BC55-8B9D50240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323" y="1211274"/>
            <a:ext cx="5501342" cy="2452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66EBDB4-483B-4CC6-AD72-8CA60D04D787}"/>
              </a:ext>
            </a:extLst>
          </p:cNvPr>
          <p:cNvSpPr/>
          <p:nvPr/>
        </p:nvSpPr>
        <p:spPr>
          <a:xfrm>
            <a:off x="2167957" y="866572"/>
            <a:ext cx="961473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Monitoring and operations:</a:t>
            </a:r>
          </a:p>
          <a:p>
            <a:r>
              <a:t>- RDS performance, backups, and failover</a:t>
            </a:r>
          </a:p>
          <a:p>
            <a:r>
              <a:t>- APIG traffic, authentication, and throttling</a:t>
            </a:r>
          </a:p>
          <a:p>
            <a:r>
              <a:t>- FunctionGraph execution metrics and logs</a:t>
            </a:r>
          </a:p>
          <a:p>
            <a:r>
              <a:t>- SMN delivery status and retries</a:t>
            </a:r>
          </a:p>
        </p:txBody>
      </p:sp>
      <p:pic>
        <p:nvPicPr>
          <p:cNvPr id="28" name="Picture 27" descr="C:\Users\l00545010\AppData\Roaming\eSpace_Desktop\UserData\l00545010\imagefiles\originalImgfiles\537AC20E-ED8D-4558-8438-E2337CCFEA8E.png">
            <a:extLst>
              <a:ext uri="{FF2B5EF4-FFF2-40B4-BE49-F238E27FC236}">
                <a16:creationId xmlns:a16="http://schemas.microsoft.com/office/drawing/2014/main" id="{3E85076F-B15A-498E-AF03-46493D52604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124" y="3789171"/>
            <a:ext cx="10254371" cy="286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9F70E0A1-A3BD-42B9-B9C4-E9143C51D84C}"/>
              </a:ext>
            </a:extLst>
          </p:cNvPr>
          <p:cNvSpPr/>
          <p:nvPr/>
        </p:nvSpPr>
        <p:spPr>
          <a:xfrm>
            <a:off x="6406309" y="3340763"/>
            <a:ext cx="4264116" cy="377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t>CI/CD and storage:</a:t>
            </a:r>
          </a:p>
          <a:p>
            <a:r>
              <a:t>- CodeArts Pipeline for build/test/deploy</a:t>
            </a:r>
          </a:p>
          <a:p>
            <a:r>
              <a:t>- OBS for artifacts, receipts, and exports</a:t>
            </a:r>
          </a:p>
        </p:txBody>
      </p:sp>
      <p:sp>
        <p:nvSpPr>
          <p:cNvPr id="9" name="斜纹 2">
            <a:extLst>
              <a:ext uri="{FF2B5EF4-FFF2-40B4-BE49-F238E27FC236}">
                <a16:creationId xmlns:a16="http://schemas.microsoft.com/office/drawing/2014/main" id="{7F7BA0F9-D852-4FF2-B44F-25B0F82C0810}"/>
              </a:ext>
            </a:extLst>
          </p:cNvPr>
          <p:cNvSpPr/>
          <p:nvPr/>
        </p:nvSpPr>
        <p:spPr>
          <a:xfrm rot="5400000">
            <a:off x="9284979" y="307405"/>
            <a:ext cx="3199283" cy="2594675"/>
          </a:xfrm>
          <a:prstGeom prst="diagStrip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  <p:extLst>
      <p:ext uri="{BB962C8B-B14F-4D97-AF65-F5344CB8AC3E}">
        <p14:creationId xmlns:p14="http://schemas.microsoft.com/office/powerpoint/2010/main" val="1405715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sz="2799" b="1" dirty="0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Functions</a:t>
            </a:r>
            <a:endParaRPr lang="zh-CN" altLang="en-US" sz="2799" b="1" dirty="0">
              <a:solidFill>
                <a:srgbClr val="99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6435634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21" y="1108603"/>
            <a:ext cx="10729366" cy="2062954"/>
          </a:xfrm>
        </p:spPr>
        <p:txBody>
          <a:bodyPr>
            <a:normAutofit fontScale="92500"/>
          </a:bodyPr>
          <a:lstStyle/>
          <a:p>
            <a:r>
              <a:t>- Store credit apply at checkout (essential goods only)</a:t>
            </a:r>
          </a:p>
          <a:p>
            <a:r>
              <a:t>- Stokvel groups, wallets, and buckets</a:t>
            </a:r>
          </a:p>
          <a:p>
            <a:r>
              <a:t>- Mid-month credit requests with peer approvals</a:t>
            </a:r>
          </a:p>
          <a:p>
            <a:r>
              <a:t>- Area-based shop enforcement</a:t>
            </a:r>
          </a:p>
          <a:p>
            <a:r>
              <a:t>- Grant cycle tracking and risk scoring</a:t>
            </a:r>
          </a:p>
          <a:p>
            <a:r>
              <a:t>- Automatic repayment + transaction history</a:t>
            </a:r>
          </a:p>
        </p:txBody>
      </p:sp>
    </p:spTree>
    <p:extLst>
      <p:ext uri="{BB962C8B-B14F-4D97-AF65-F5344CB8AC3E}">
        <p14:creationId xmlns:p14="http://schemas.microsoft.com/office/powerpoint/2010/main" val="3566025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799" b="1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dirty="0"/>
              <a:t>Innovations</a:t>
            </a:r>
            <a:endParaRPr lang="zh-CN" alt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317" y="1327275"/>
            <a:ext cx="10729366" cy="1654725"/>
          </a:xfrm>
        </p:spPr>
        <p:txBody>
          <a:bodyPr>
            <a:normAutofit fontScale="92500" lnSpcReduction="20000"/>
          </a:bodyPr>
          <a:lstStyle/>
          <a:p>
            <a:r>
              <a:t>- Behavior-based credit scoring without credit bureau data</a:t>
            </a:r>
          </a:p>
          <a:p>
            <a:r>
              <a:t>- Bucketed essential-goods-only credit enforced at checkout</a:t>
            </a:r>
          </a:p>
          <a:p>
            <a:r>
              <a:t>- Community stokvel integration with e-commerce</a:t>
            </a:r>
          </a:p>
          <a:p>
            <a:r>
              <a:t>- Automated repayment from grant inflows</a:t>
            </a:r>
          </a:p>
          <a:p>
            <a:r>
              <a:t>- Geographic trust model (area-based spending)</a:t>
            </a:r>
          </a:p>
        </p:txBody>
      </p:sp>
      <p:sp>
        <p:nvSpPr>
          <p:cNvPr id="12" name="矩形 11"/>
          <p:cNvSpPr/>
          <p:nvPr/>
        </p:nvSpPr>
        <p:spPr>
          <a:xfrm>
            <a:off x="0" y="6435634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506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799" b="1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dirty="0"/>
              <a:t>Business Value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0" y="6435634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317" y="1083898"/>
            <a:ext cx="10729366" cy="1684013"/>
          </a:xfrm>
        </p:spPr>
        <p:txBody>
          <a:bodyPr>
            <a:normAutofit lnSpcReduction="10000"/>
          </a:bodyPr>
          <a:lstStyle/>
          <a:p>
            <a:r>
              <a:t>- Social impact: financial inclusion and safer access to essentials</a:t>
            </a:r>
          </a:p>
          <a:p>
            <a:r>
              <a:t>- Spaza shops gain stable demand and higher basket sizes</a:t>
            </a:r>
          </a:p>
          <a:p>
            <a:r>
              <a:t>- Sustainable model: flat service fee (2%) + merchant SaaS</a:t>
            </a:r>
          </a:p>
          <a:p>
            <a:r>
              <a:t>- Scalable across provinces with low marginal cost</a:t>
            </a:r>
          </a:p>
          <a:p>
            <a:r>
              <a:t>- Compliance-ready: audit trails and spending controls</a:t>
            </a:r>
          </a:p>
        </p:txBody>
      </p:sp>
    </p:spTree>
    <p:extLst>
      <p:ext uri="{BB962C8B-B14F-4D97-AF65-F5344CB8AC3E}">
        <p14:creationId xmlns:p14="http://schemas.microsoft.com/office/powerpoint/2010/main" val="3392352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799" b="1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dirty="0"/>
              <a:t>(Optional) Verification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0" y="6435634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651" y="1231682"/>
            <a:ext cx="10729366" cy="2021764"/>
          </a:xfrm>
        </p:spPr>
        <p:txBody>
          <a:bodyPr>
            <a:normAutofit/>
          </a:bodyPr>
          <a:lstStyle/>
          <a:p>
            <a:r>
              <a:t>Planned verification:</a:t>
            </a:r>
          </a:p>
          <a:p>
            <a:r>
              <a:t>- Pilot in 2-3 areas with ~10 spaza shops and 200 customers</a:t>
            </a:r>
          </a:p>
          <a:p>
            <a:r>
              <a:t>- KPIs: repayment rate, basket size growth, credit usage, risk score accuracy</a:t>
            </a:r>
          </a:p>
          <a:p>
            <a:r>
              <a:t>- Surveys: customer trust, ease of use, merchant satisfaction</a:t>
            </a:r>
          </a:p>
        </p:txBody>
      </p:sp>
    </p:spTree>
    <p:extLst>
      <p:ext uri="{BB962C8B-B14F-4D97-AF65-F5344CB8AC3E}">
        <p14:creationId xmlns:p14="http://schemas.microsoft.com/office/powerpoint/2010/main" val="1571902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799" b="1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Demo &amp; Follow-up</a:t>
            </a:r>
            <a:r>
              <a:rPr dirty="0"/>
              <a:t> Plan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5304" y="6427396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317" y="1316165"/>
            <a:ext cx="10729366" cy="2636234"/>
          </a:xfrm>
        </p:spPr>
        <p:txBody>
          <a:bodyPr>
            <a:spAutoFit/>
          </a:bodyPr>
          <a:lstStyle/>
          <a:p>
            <a:r>
              <a:t>Demo:</a:t>
            </a:r>
          </a:p>
          <a:p>
            <a:r>
              <a:t>- Demo video and ZIP submission (to be included)</a:t>
            </a:r>
          </a:p>
          <a:p>
            <a:r>
              <a:t>- Screenshots of Storefront checkout + Admin management</a:t>
            </a:r>
          </a:p>
          <a:p/>
          <a:p>
            <a:r>
              <a:t>Follow-up plan:</a:t>
            </a:r>
          </a:p>
          <a:p>
            <a:r>
              <a:t>- Phase 1 (0-3 months): MVP hardening and security review</a:t>
            </a:r>
          </a:p>
          <a:p>
            <a:r>
              <a:t>- Phase 2 (3-6 months): pilot rollout and feedback iteration</a:t>
            </a:r>
          </a:p>
          <a:p>
            <a:r>
              <a:t>- Phase 3 (6-12 months): scale to additional provinces + partners</a:t>
            </a:r>
          </a:p>
        </p:txBody>
      </p:sp>
    </p:spTree>
    <p:extLst>
      <p:ext uri="{BB962C8B-B14F-4D97-AF65-F5344CB8AC3E}">
        <p14:creationId xmlns:p14="http://schemas.microsoft.com/office/powerpoint/2010/main" val="1659656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1046251" y="404410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799" b="1">
                <a:solidFill>
                  <a:srgbClr val="9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(Optional) </a:t>
            </a:r>
            <a:r>
              <a:rPr dirty="0"/>
              <a:t>Achievements</a:t>
            </a:r>
          </a:p>
          <a:p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0" y="6435634"/>
            <a:ext cx="12192000" cy="422366"/>
          </a:xfrm>
          <a:prstGeom prst="rect">
            <a:avLst/>
          </a:prstGeom>
          <a:solidFill>
            <a:srgbClr val="D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146304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- Working Shopware 6.6 plugin prototype</a:t>
            </a:r>
          </a:p>
          <a:p>
            <a:r>
              <a:t>- Huawei Cloud integration plan finalized</a:t>
            </a:r>
          </a:p>
          <a:p>
            <a:r>
              <a:t>- Architecture diagram and submission materials prepared</a:t>
            </a:r>
          </a:p>
        </p:txBody>
      </p:sp>
    </p:spTree>
    <p:extLst>
      <p:ext uri="{BB962C8B-B14F-4D97-AF65-F5344CB8AC3E}">
        <p14:creationId xmlns:p14="http://schemas.microsoft.com/office/powerpoint/2010/main" val="2086302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034" y="4888851"/>
            <a:ext cx="1757966" cy="1757966"/>
          </a:xfrm>
          <a:prstGeom prst="rect">
            <a:avLst/>
          </a:prstGeom>
        </p:spPr>
      </p:pic>
      <p:sp>
        <p:nvSpPr>
          <p:cNvPr id="5" name="Subtitle 1">
            <a:extLst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 txBox="1">
            <a:spLocks/>
          </p:cNvSpPr>
          <p:nvPr/>
        </p:nvSpPr>
        <p:spPr>
          <a:xfrm>
            <a:off x="1561406" y="1911238"/>
            <a:ext cx="10736446" cy="395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sz="4400" b="1" u="none" dirty="0">
                <a:solidFill>
                  <a:srgbClr val="990000"/>
                </a:solidFill>
              </a:rPr>
              <a:t>THANK YOU</a:t>
            </a:r>
            <a:endParaRPr lang="zh-CN" altLang="en-US" sz="4400" b="1" dirty="0">
              <a:solidFill>
                <a:srgbClr val="990000"/>
              </a:solidFill>
              <a:latin typeface="Arial" panose="02000000000000000000" pitchFamily="2" charset="-122"/>
              <a:ea typeface="方正兰亭黑简体" panose="02000000000000000000" pitchFamily="2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95023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3201</TotalTime>
  <Words>807</Words>
  <Application>Microsoft Office PowerPoint</Application>
  <PresentationFormat>宽屏</PresentationFormat>
  <Paragraphs>123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FZLanTingHeiS-DB-GB</vt:lpstr>
      <vt:lpstr>FZLanTingHeiS-R-GB</vt:lpstr>
      <vt:lpstr>Open Sans</vt:lpstr>
      <vt:lpstr>Overpass Black</vt:lpstr>
      <vt:lpstr>方正兰亭黑简体</vt:lpstr>
      <vt:lpstr>宋体</vt:lpstr>
      <vt:lpstr>微软雅黑</vt:lpstr>
      <vt:lpstr>微软雅黑</vt:lpstr>
      <vt:lpstr>Arial</vt:lpstr>
      <vt:lpstr>Calibri</vt:lpstr>
      <vt:lpstr>Calibri Light</vt:lpstr>
      <vt:lpstr>Wingdings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zhengfangyuan</dc:creator>
  <cp:lastModifiedBy>zhangmiao (U)</cp:lastModifiedBy>
  <cp:revision>84</cp:revision>
  <dcterms:created xsi:type="dcterms:W3CDTF">2022-06-07T06:38:16Z</dcterms:created>
  <dcterms:modified xsi:type="dcterms:W3CDTF">2024-08-29T09:32:49Z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(3)zqU5RP/gneUQdN491x6FdUzwctKodf6vMHIfJkx3xXLYLaBnmQ0n7yR30zj8x2EmeG72/L45
Uib3+z82y2Qj2zIXYO1XZOvrRM3Xn0Ls4NkPisd7dOe3HSgSUGiMPmpK/N8dBEgToyY1wQpk
YNLDyfhGwLxfkF3pTayYmd91pZfNaVGDHxtT12LDxbkEVl01zr/O23dReYjcOf3ayOLhrYtW
qbzfZBIvIGBiS/TZH6</vt:lpwstr>
  </property>
  <property fmtid="{D5CDD505-2E9C-101B-9397-08002B2CF9AE}" pid="3" name="_2015_ms_pID_7253431">
    <vt:lpwstr>CSYqV1vPrUJ3BrRXsZI97E9T+GZzwKY8CRSRZLZcJQLimw7e3sHIjl
1dISVZ59lEMMQs3aGWphk9I2auZm5YJJOL9wEKh26OaUq1bXTVLJHvljDLdPamFJpQrtF4n3
PfCs2lR//U6NnFqWIcC/V3ogKnhz+0PKS92lLzu9nvI3ObKemrC7+Gj6eBQi9p0FLvro5Z25
ySEV2O7Yj9Kk06Z07+EvNZ7Nzcr96hdAXP0f</vt:lpwstr>
  </property>
  <property fmtid="{D5CDD505-2E9C-101B-9397-08002B2CF9AE}" pid="4" name="_2015_ms_pID_7253432">
    <vt:lpwstr>UwUKMYadRsISUvqXZR8o0K8=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1656050662</vt:lpwstr>
  </property>
</Properties>
</file>